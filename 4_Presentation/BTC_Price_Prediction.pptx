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6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7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GB" sz="1800" spc="-1" strike="noStrike">
                <a:solidFill>
                  <a:srgbClr val="000000"/>
                </a:solidFill>
                <a:latin typeface="Aptos"/>
              </a:rPr>
              <a:t>Click to move the </a:t>
            </a:r>
            <a:r>
              <a:rPr b="0" lang="en-GB" sz="1800" spc="-1" strike="noStrike">
                <a:solidFill>
                  <a:srgbClr val="000000"/>
                </a:solidFill>
                <a:latin typeface="Aptos"/>
              </a:rPr>
              <a:t>slide</a:t>
            </a:r>
            <a:endParaRPr b="0" lang="en-GB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GB" sz="2000" spc="-1" strike="noStrike">
                <a:latin typeface="Arial"/>
              </a:rPr>
              <a:t>Click to edit the </a:t>
            </a:r>
            <a:r>
              <a:rPr b="0" lang="en-GB" sz="2000" spc="-1" strike="noStrike">
                <a:latin typeface="Arial"/>
              </a:rPr>
              <a:t>notes format</a:t>
            </a:r>
            <a:endParaRPr b="0" lang="en-GB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GB" sz="1400" spc="-1" strike="noStrike">
                <a:latin typeface="Times New Roman"/>
              </a:rPr>
              <a:t>&lt;header&gt;</a:t>
            </a:r>
            <a:endParaRPr b="0" lang="en-GB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GB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GB" sz="1400" spc="-1" strike="noStrike">
                <a:latin typeface="Times New Roman"/>
              </a:rPr>
              <a:t>&lt;date/time&gt;</a:t>
            </a:r>
            <a:endParaRPr b="0" lang="en-GB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GB" sz="1400" spc="-1" strike="noStrike">
                <a:latin typeface="Times New Roman"/>
              </a:defRPr>
            </a:lvl1pPr>
          </a:lstStyle>
          <a:p>
            <a:r>
              <a:rPr b="0" lang="en-GB" sz="1400" spc="-1" strike="noStrike">
                <a:latin typeface="Times New Roman"/>
              </a:rPr>
              <a:t>&lt;footer&gt;</a:t>
            </a:r>
            <a:endParaRPr b="0" lang="en-GB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GB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83ADC493-EBE1-4CAA-997B-1D07DC0A3989}" type="slidenum">
              <a:rPr b="0" lang="en-GB" sz="1400" spc="-1" strike="noStrike">
                <a:latin typeface="Times New Roman"/>
              </a:rPr>
              <a:t>&lt;number&gt;</a:t>
            </a:fld>
            <a:endParaRPr b="0" lang="en-GB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r>
              <a:rPr b="0" lang="en-US" sz="2000" spc="-1" strike="noStrike">
                <a:latin typeface="Arial"/>
              </a:rPr>
              <a:t>Visual assets used / </a:t>
            </a:r>
            <a:r>
              <a:rPr b="0" lang="en-US" sz="2000" spc="-1" strike="noStrike">
                <a:latin typeface="Arial"/>
              </a:rPr>
              <a:t>placeholders:</a:t>
            </a:r>
            <a:endParaRPr b="0" lang="en-GB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- </a:t>
            </a:r>
            <a:r>
              <a:rPr b="0" lang="en-US" sz="2000" spc="-1" strike="noStrike">
                <a:latin typeface="Arial"/>
              </a:rPr>
              <a:t>assets/figures/bitcoin</a:t>
            </a:r>
            <a:r>
              <a:rPr b="0" lang="en-US" sz="2000" spc="-1" strike="noStrike">
                <a:latin typeface="Arial"/>
              </a:rPr>
              <a:t>_market_cover.png</a:t>
            </a:r>
            <a:endParaRPr b="0" lang="en-GB" sz="2000" spc="-1" strike="noStrike">
              <a:latin typeface="Arial"/>
            </a:endParaRPr>
          </a:p>
        </p:txBody>
      </p:sp>
      <p:sp>
        <p:nvSpPr>
          <p:cNvPr id="33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8289C59-4614-44AB-A31C-580F5D97532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15</a:t>
            </a:fld>
            <a:endParaRPr b="0" lang="en-GB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GB" sz="2000" spc="-1" strike="noStrike">
              <a:latin typeface="Arial"/>
            </a:endParaRPr>
          </a:p>
        </p:txBody>
      </p:sp>
      <p:sp>
        <p:nvSpPr>
          <p:cNvPr id="33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F5A6DF1-0673-48B5-AB9E-4DB46DB581E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15</a:t>
            </a:fld>
            <a:endParaRPr b="0" lang="en-GB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GB" sz="2000" spc="-1" strike="noStrike">
              <a:latin typeface="Arial"/>
            </a:endParaRPr>
          </a:p>
        </p:txBody>
      </p:sp>
      <p:sp>
        <p:nvSpPr>
          <p:cNvPr id="33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F340E92-D83A-4DF4-8A3D-05B30CCA55C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15</a:t>
            </a:fld>
            <a:endParaRPr b="0" lang="en-GB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r>
              <a:rPr b="0" lang="en-US" sz="2000" spc="-1" strike="noStrike">
                <a:latin typeface="Arial"/>
              </a:rPr>
              <a:t>V</a:t>
            </a:r>
            <a:r>
              <a:rPr b="0" lang="en-US" sz="2000" spc="-1" strike="noStrike">
                <a:latin typeface="Arial"/>
              </a:rPr>
              <a:t>i</a:t>
            </a:r>
            <a:r>
              <a:rPr b="0" lang="en-US" sz="2000" spc="-1" strike="noStrike">
                <a:latin typeface="Arial"/>
              </a:rPr>
              <a:t>s</a:t>
            </a:r>
            <a:r>
              <a:rPr b="0" lang="en-US" sz="2000" spc="-1" strike="noStrike">
                <a:latin typeface="Arial"/>
              </a:rPr>
              <a:t>u</a:t>
            </a:r>
            <a:r>
              <a:rPr b="0" lang="en-US" sz="2000" spc="-1" strike="noStrike">
                <a:latin typeface="Arial"/>
              </a:rPr>
              <a:t>a</a:t>
            </a:r>
            <a:r>
              <a:rPr b="0" lang="en-US" sz="2000" spc="-1" strike="noStrike">
                <a:latin typeface="Arial"/>
              </a:rPr>
              <a:t>l</a:t>
            </a:r>
            <a:r>
              <a:rPr b="0" lang="en-US" sz="2000" spc="-1" strike="noStrike">
                <a:latin typeface="Arial"/>
              </a:rPr>
              <a:t> </a:t>
            </a:r>
            <a:r>
              <a:rPr b="0" lang="en-US" sz="2000" spc="-1" strike="noStrike">
                <a:latin typeface="Arial"/>
              </a:rPr>
              <a:t>a</a:t>
            </a:r>
            <a:r>
              <a:rPr b="0" lang="en-US" sz="2000" spc="-1" strike="noStrike">
                <a:latin typeface="Arial"/>
              </a:rPr>
              <a:t>s</a:t>
            </a:r>
            <a:r>
              <a:rPr b="0" lang="en-US" sz="2000" spc="-1" strike="noStrike">
                <a:latin typeface="Arial"/>
              </a:rPr>
              <a:t>s</a:t>
            </a:r>
            <a:r>
              <a:rPr b="0" lang="en-US" sz="2000" spc="-1" strike="noStrike">
                <a:latin typeface="Arial"/>
              </a:rPr>
              <a:t>e</a:t>
            </a:r>
            <a:r>
              <a:rPr b="0" lang="en-US" sz="2000" spc="-1" strike="noStrike">
                <a:latin typeface="Arial"/>
              </a:rPr>
              <a:t>t</a:t>
            </a:r>
            <a:r>
              <a:rPr b="0" lang="en-US" sz="2000" spc="-1" strike="noStrike">
                <a:latin typeface="Arial"/>
              </a:rPr>
              <a:t>s</a:t>
            </a:r>
            <a:r>
              <a:rPr b="0" lang="en-US" sz="2000" spc="-1" strike="noStrike">
                <a:latin typeface="Arial"/>
              </a:rPr>
              <a:t> </a:t>
            </a:r>
            <a:r>
              <a:rPr b="0" lang="en-US" sz="2000" spc="-1" strike="noStrike">
                <a:latin typeface="Arial"/>
              </a:rPr>
              <a:t>u</a:t>
            </a:r>
            <a:r>
              <a:rPr b="0" lang="en-US" sz="2000" spc="-1" strike="noStrike">
                <a:latin typeface="Arial"/>
              </a:rPr>
              <a:t>s</a:t>
            </a:r>
            <a:r>
              <a:rPr b="0" lang="en-US" sz="2000" spc="-1" strike="noStrike">
                <a:latin typeface="Arial"/>
              </a:rPr>
              <a:t>e</a:t>
            </a:r>
            <a:r>
              <a:rPr b="0" lang="en-US" sz="2000" spc="-1" strike="noStrike">
                <a:latin typeface="Arial"/>
              </a:rPr>
              <a:t>d</a:t>
            </a:r>
            <a:r>
              <a:rPr b="0" lang="en-US" sz="2000" spc="-1" strike="noStrike">
                <a:latin typeface="Arial"/>
              </a:rPr>
              <a:t> </a:t>
            </a:r>
            <a:r>
              <a:rPr b="0" lang="en-US" sz="2000" spc="-1" strike="noStrike">
                <a:latin typeface="Arial"/>
              </a:rPr>
              <a:t>/</a:t>
            </a:r>
            <a:r>
              <a:rPr b="0" lang="en-US" sz="2000" spc="-1" strike="noStrike">
                <a:latin typeface="Arial"/>
              </a:rPr>
              <a:t> </a:t>
            </a:r>
            <a:r>
              <a:rPr b="0" lang="en-US" sz="2000" spc="-1" strike="noStrike">
                <a:latin typeface="Arial"/>
              </a:rPr>
              <a:t>p</a:t>
            </a:r>
            <a:r>
              <a:rPr b="0" lang="en-US" sz="2000" spc="-1" strike="noStrike">
                <a:latin typeface="Arial"/>
              </a:rPr>
              <a:t>l</a:t>
            </a:r>
            <a:r>
              <a:rPr b="0" lang="en-US" sz="2000" spc="-1" strike="noStrike">
                <a:latin typeface="Arial"/>
              </a:rPr>
              <a:t>a</a:t>
            </a:r>
            <a:r>
              <a:rPr b="0" lang="en-US" sz="2000" spc="-1" strike="noStrike">
                <a:latin typeface="Arial"/>
              </a:rPr>
              <a:t>c</a:t>
            </a:r>
            <a:r>
              <a:rPr b="0" lang="en-US" sz="2000" spc="-1" strike="noStrike">
                <a:latin typeface="Arial"/>
              </a:rPr>
              <a:t>e</a:t>
            </a:r>
            <a:r>
              <a:rPr b="0" lang="en-US" sz="2000" spc="-1" strike="noStrike">
                <a:latin typeface="Arial"/>
              </a:rPr>
              <a:t>h</a:t>
            </a:r>
            <a:r>
              <a:rPr b="0" lang="en-US" sz="2000" spc="-1" strike="noStrike">
                <a:latin typeface="Arial"/>
              </a:rPr>
              <a:t>o</a:t>
            </a:r>
            <a:r>
              <a:rPr b="0" lang="en-US" sz="2000" spc="-1" strike="noStrike">
                <a:latin typeface="Arial"/>
              </a:rPr>
              <a:t>l</a:t>
            </a:r>
            <a:r>
              <a:rPr b="0" lang="en-US" sz="2000" spc="-1" strike="noStrike">
                <a:latin typeface="Arial"/>
              </a:rPr>
              <a:t>d</a:t>
            </a:r>
            <a:r>
              <a:rPr b="0" lang="en-US" sz="2000" spc="-1" strike="noStrike">
                <a:latin typeface="Arial"/>
              </a:rPr>
              <a:t>e</a:t>
            </a:r>
            <a:r>
              <a:rPr b="0" lang="en-US" sz="2000" spc="-1" strike="noStrike">
                <a:latin typeface="Arial"/>
              </a:rPr>
              <a:t>r</a:t>
            </a:r>
            <a:r>
              <a:rPr b="0" lang="en-US" sz="2000" spc="-1" strike="noStrike">
                <a:latin typeface="Arial"/>
              </a:rPr>
              <a:t>s</a:t>
            </a:r>
            <a:r>
              <a:rPr b="0" lang="en-US" sz="2000" spc="-1" strike="noStrike">
                <a:latin typeface="Arial"/>
              </a:rPr>
              <a:t>:</a:t>
            </a:r>
            <a:endParaRPr b="0" lang="en-GB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- </a:t>
            </a:r>
            <a:r>
              <a:rPr b="0" lang="en-US" sz="2000" spc="-1" strike="noStrike">
                <a:latin typeface="Arial"/>
              </a:rPr>
              <a:t>a</a:t>
            </a:r>
            <a:r>
              <a:rPr b="0" lang="en-US" sz="2000" spc="-1" strike="noStrike">
                <a:latin typeface="Arial"/>
              </a:rPr>
              <a:t>s</a:t>
            </a:r>
            <a:r>
              <a:rPr b="0" lang="en-US" sz="2000" spc="-1" strike="noStrike">
                <a:latin typeface="Arial"/>
              </a:rPr>
              <a:t>s</a:t>
            </a:r>
            <a:r>
              <a:rPr b="0" lang="en-US" sz="2000" spc="-1" strike="noStrike">
                <a:latin typeface="Arial"/>
              </a:rPr>
              <a:t>e</a:t>
            </a:r>
            <a:r>
              <a:rPr b="0" lang="en-US" sz="2000" spc="-1" strike="noStrike">
                <a:latin typeface="Arial"/>
              </a:rPr>
              <a:t>t</a:t>
            </a:r>
            <a:r>
              <a:rPr b="0" lang="en-US" sz="2000" spc="-1" strike="noStrike">
                <a:latin typeface="Arial"/>
              </a:rPr>
              <a:t>s</a:t>
            </a:r>
            <a:r>
              <a:rPr b="0" lang="en-US" sz="2000" spc="-1" strike="noStrike">
                <a:latin typeface="Arial"/>
              </a:rPr>
              <a:t>/</a:t>
            </a:r>
            <a:r>
              <a:rPr b="0" lang="en-US" sz="2000" spc="-1" strike="noStrike">
                <a:latin typeface="Arial"/>
              </a:rPr>
              <a:t>f</a:t>
            </a:r>
            <a:r>
              <a:rPr b="0" lang="en-US" sz="2000" spc="-1" strike="noStrike">
                <a:latin typeface="Arial"/>
              </a:rPr>
              <a:t>i</a:t>
            </a:r>
            <a:r>
              <a:rPr b="0" lang="en-US" sz="2000" spc="-1" strike="noStrike">
                <a:latin typeface="Arial"/>
              </a:rPr>
              <a:t>g</a:t>
            </a:r>
            <a:r>
              <a:rPr b="0" lang="en-US" sz="2000" spc="-1" strike="noStrike">
                <a:latin typeface="Arial"/>
              </a:rPr>
              <a:t>u</a:t>
            </a:r>
            <a:r>
              <a:rPr b="0" lang="en-US" sz="2000" spc="-1" strike="noStrike">
                <a:latin typeface="Arial"/>
              </a:rPr>
              <a:t>r</a:t>
            </a:r>
            <a:r>
              <a:rPr b="0" lang="en-US" sz="2000" spc="-1" strike="noStrike">
                <a:latin typeface="Arial"/>
              </a:rPr>
              <a:t>e</a:t>
            </a:r>
            <a:r>
              <a:rPr b="0" lang="en-US" sz="2000" spc="-1" strike="noStrike">
                <a:latin typeface="Arial"/>
              </a:rPr>
              <a:t>s</a:t>
            </a:r>
            <a:r>
              <a:rPr b="0" lang="en-US" sz="2000" spc="-1" strike="noStrike">
                <a:latin typeface="Arial"/>
              </a:rPr>
              <a:t>/</a:t>
            </a:r>
            <a:r>
              <a:rPr b="0" lang="en-US" sz="2000" spc="-1" strike="noStrike">
                <a:latin typeface="Arial"/>
              </a:rPr>
              <a:t>d</a:t>
            </a:r>
            <a:r>
              <a:rPr b="0" lang="en-US" sz="2000" spc="-1" strike="noStrike">
                <a:latin typeface="Arial"/>
              </a:rPr>
              <a:t>a</a:t>
            </a:r>
            <a:r>
              <a:rPr b="0" lang="en-US" sz="2000" spc="-1" strike="noStrike">
                <a:latin typeface="Arial"/>
              </a:rPr>
              <a:t>t</a:t>
            </a:r>
            <a:r>
              <a:rPr b="0" lang="en-US" sz="2000" spc="-1" strike="noStrike">
                <a:latin typeface="Arial"/>
              </a:rPr>
              <a:t>a</a:t>
            </a:r>
            <a:r>
              <a:rPr b="0" lang="en-US" sz="2000" spc="-1" strike="noStrike">
                <a:latin typeface="Arial"/>
              </a:rPr>
              <a:t>_</a:t>
            </a:r>
            <a:r>
              <a:rPr b="0" lang="en-US" sz="2000" spc="-1" strike="noStrike">
                <a:latin typeface="Arial"/>
              </a:rPr>
              <a:t>q</a:t>
            </a:r>
            <a:r>
              <a:rPr b="0" lang="en-US" sz="2000" spc="-1" strike="noStrike">
                <a:latin typeface="Arial"/>
              </a:rPr>
              <a:t>u</a:t>
            </a:r>
            <a:r>
              <a:rPr b="0" lang="en-US" sz="2000" spc="-1" strike="noStrike">
                <a:latin typeface="Arial"/>
              </a:rPr>
              <a:t>a</a:t>
            </a:r>
            <a:r>
              <a:rPr b="0" lang="en-US" sz="2000" spc="-1" strike="noStrike">
                <a:latin typeface="Arial"/>
              </a:rPr>
              <a:t>l</a:t>
            </a:r>
            <a:r>
              <a:rPr b="0" lang="en-US" sz="2000" spc="-1" strike="noStrike">
                <a:latin typeface="Arial"/>
              </a:rPr>
              <a:t>i</a:t>
            </a:r>
            <a:r>
              <a:rPr b="0" lang="en-US" sz="2000" spc="-1" strike="noStrike">
                <a:latin typeface="Arial"/>
              </a:rPr>
              <a:t>t</a:t>
            </a:r>
            <a:r>
              <a:rPr b="0" lang="en-US" sz="2000" spc="-1" strike="noStrike">
                <a:latin typeface="Arial"/>
              </a:rPr>
              <a:t>y</a:t>
            </a:r>
            <a:r>
              <a:rPr b="0" lang="en-US" sz="2000" spc="-1" strike="noStrike">
                <a:latin typeface="Arial"/>
              </a:rPr>
              <a:t>_</a:t>
            </a:r>
            <a:r>
              <a:rPr b="0" lang="en-US" sz="2000" spc="-1" strike="noStrike">
                <a:latin typeface="Arial"/>
              </a:rPr>
              <a:t>s</a:t>
            </a:r>
            <a:r>
              <a:rPr b="0" lang="en-US" sz="2000" spc="-1" strike="noStrike">
                <a:latin typeface="Arial"/>
              </a:rPr>
              <a:t>n</a:t>
            </a:r>
            <a:r>
              <a:rPr b="0" lang="en-US" sz="2000" spc="-1" strike="noStrike">
                <a:latin typeface="Arial"/>
              </a:rPr>
              <a:t>a</a:t>
            </a:r>
            <a:r>
              <a:rPr b="0" lang="en-US" sz="2000" spc="-1" strike="noStrike">
                <a:latin typeface="Arial"/>
              </a:rPr>
              <a:t>p</a:t>
            </a:r>
            <a:r>
              <a:rPr b="0" lang="en-US" sz="2000" spc="-1" strike="noStrike">
                <a:latin typeface="Arial"/>
              </a:rPr>
              <a:t>s</a:t>
            </a:r>
            <a:r>
              <a:rPr b="0" lang="en-US" sz="2000" spc="-1" strike="noStrike">
                <a:latin typeface="Arial"/>
              </a:rPr>
              <a:t>h</a:t>
            </a:r>
            <a:r>
              <a:rPr b="0" lang="en-US" sz="2000" spc="-1" strike="noStrike">
                <a:latin typeface="Arial"/>
              </a:rPr>
              <a:t>o</a:t>
            </a:r>
            <a:r>
              <a:rPr b="0" lang="en-US" sz="2000" spc="-1" strike="noStrike">
                <a:latin typeface="Arial"/>
              </a:rPr>
              <a:t>t</a:t>
            </a:r>
            <a:r>
              <a:rPr b="0" lang="en-US" sz="2000" spc="-1" strike="noStrike">
                <a:latin typeface="Arial"/>
              </a:rPr>
              <a:t>.</a:t>
            </a:r>
            <a:r>
              <a:rPr b="0" lang="en-US" sz="2000" spc="-1" strike="noStrike">
                <a:latin typeface="Arial"/>
              </a:rPr>
              <a:t>p</a:t>
            </a:r>
            <a:r>
              <a:rPr b="0" lang="en-US" sz="2000" spc="-1" strike="noStrike">
                <a:latin typeface="Arial"/>
              </a:rPr>
              <a:t>n</a:t>
            </a:r>
            <a:r>
              <a:rPr b="0" lang="en-US" sz="2000" spc="-1" strike="noStrike">
                <a:latin typeface="Arial"/>
              </a:rPr>
              <a:t>g</a:t>
            </a:r>
            <a:endParaRPr b="0" lang="en-GB" sz="2000" spc="-1" strike="noStrike">
              <a:latin typeface="Arial"/>
            </a:endParaRPr>
          </a:p>
        </p:txBody>
      </p:sp>
      <p:sp>
        <p:nvSpPr>
          <p:cNvPr id="33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EDD0EE9-8DC5-49BC-8A49-4511CB36916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15</a:t>
            </a:fld>
            <a:endParaRPr b="0" lang="en-GB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GB" sz="2000" spc="-1" strike="noStrike">
              <a:latin typeface="Arial"/>
            </a:endParaRPr>
          </a:p>
        </p:txBody>
      </p:sp>
      <p:sp>
        <p:nvSpPr>
          <p:cNvPr id="34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42FBC90-F3BB-435B-8000-19C6D609CAF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15</a:t>
            </a:fld>
            <a:endParaRPr b="0" lang="en-GB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GB" sz="2000" spc="-1" strike="noStrike">
              <a:latin typeface="Arial"/>
            </a:endParaRPr>
          </a:p>
        </p:txBody>
      </p:sp>
      <p:sp>
        <p:nvSpPr>
          <p:cNvPr id="34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F26031F-919A-4753-BF15-3F3419C990E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15</a:t>
            </a:fld>
            <a:endParaRPr b="0" lang="en-GB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GB" sz="2000" spc="-1" strike="noStrike">
              <a:latin typeface="Arial"/>
            </a:endParaRPr>
          </a:p>
        </p:txBody>
      </p:sp>
      <p:sp>
        <p:nvSpPr>
          <p:cNvPr id="34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AD8A873-3154-4D04-963F-FD7873FF97D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r>
              <a:rPr b="0" lang="en-US" sz="2000" spc="-1" strike="noStrike">
                <a:latin typeface="Arial"/>
              </a:rPr>
              <a:t>Visual assets used / placeholders:</a:t>
            </a:r>
            <a:endParaRPr b="0" lang="en-GB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- assets/screenshots/model_definition_code.png</a:t>
            </a:r>
            <a:endParaRPr b="0" lang="en-GB" sz="2000" spc="-1" strike="noStrike">
              <a:latin typeface="Arial"/>
            </a:endParaRPr>
          </a:p>
        </p:txBody>
      </p:sp>
      <p:sp>
        <p:nvSpPr>
          <p:cNvPr id="35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575FCA0-718E-4E3A-8D88-3E5FB521FC9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r>
              <a:rPr b="0" lang="en-US" sz="2000" spc="-1" strike="noStrike">
                <a:latin typeface="Arial"/>
              </a:rPr>
              <a:t>Visual assets used / placeholders:</a:t>
            </a:r>
            <a:endParaRPr b="0" lang="en-GB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- assets/figures/walk_forward_split_diagram.png</a:t>
            </a:r>
            <a:endParaRPr b="0" lang="en-GB" sz="2000" spc="-1" strike="noStrike">
              <a:latin typeface="Arial"/>
            </a:endParaRPr>
          </a:p>
        </p:txBody>
      </p:sp>
      <p:sp>
        <p:nvSpPr>
          <p:cNvPr id="354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2F3C425-420B-48DF-836C-68EDB4E88CB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r>
              <a:rPr b="0" lang="en-US" sz="2000" spc="-1" strike="noStrike">
                <a:latin typeface="Arial"/>
              </a:rPr>
              <a:t>Visual assets used / placeholders:</a:t>
            </a:r>
            <a:endParaRPr b="0" lang="en-GB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- assets/figures/cv_log_loss_by_horizon.png</a:t>
            </a:r>
            <a:endParaRPr b="0" lang="en-GB" sz="2000" spc="-1" strike="noStrike">
              <a:latin typeface="Arial"/>
            </a:endParaRPr>
          </a:p>
        </p:txBody>
      </p:sp>
      <p:sp>
        <p:nvSpPr>
          <p:cNvPr id="357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EAE1569-63B8-4A93-BC1E-7C5228B15B8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r>
              <a:rPr b="0" lang="en-US" sz="2000" spc="-1" strike="noStrike">
                <a:latin typeface="Arial"/>
              </a:rPr>
              <a:t>Visual assets used / placeholders:</a:t>
            </a:r>
            <a:endParaRPr b="0" lang="en-GB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- assets/figures/economic_gate_checklist.png</a:t>
            </a:r>
            <a:endParaRPr b="0" lang="en-GB" sz="2000" spc="-1" strike="noStrike">
              <a:latin typeface="Arial"/>
            </a:endParaRPr>
          </a:p>
        </p:txBody>
      </p:sp>
      <p:sp>
        <p:nvSpPr>
          <p:cNvPr id="360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49020FD-C6DA-4258-A5E5-D5A1311F5D3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r>
              <a:rPr b="0" lang="en-US" sz="2000" spc="-1" strike="noStrike">
                <a:latin typeface="Arial"/>
              </a:rPr>
              <a:t>Visual assets used / placeholders:</a:t>
            </a:r>
            <a:endParaRPr b="0" lang="en-GB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- assets/figures/robust_cost_vs_actual.png</a:t>
            </a:r>
            <a:endParaRPr b="0" lang="en-GB" sz="2000" spc="-1" strike="noStrike">
              <a:latin typeface="Arial"/>
            </a:endParaRPr>
          </a:p>
        </p:txBody>
      </p:sp>
      <p:sp>
        <p:nvSpPr>
          <p:cNvPr id="363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FC33669-2B5F-4E3A-B152-734E1B719CD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r>
              <a:rPr b="0" lang="en-US" sz="2000" spc="-1" strike="noStrike">
                <a:latin typeface="Arial"/>
              </a:rPr>
              <a:t>Visual assets used / placeholders:</a:t>
            </a:r>
            <a:endParaRPr b="0" lang="en-GB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- assets/figures/h16_cost_surface_english.png</a:t>
            </a:r>
            <a:endParaRPr b="0" lang="en-GB" sz="2000" spc="-1" strike="noStrike">
              <a:latin typeface="Arial"/>
            </a:endParaRPr>
          </a:p>
        </p:txBody>
      </p:sp>
      <p:sp>
        <p:nvSpPr>
          <p:cNvPr id="366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296253B-A93A-449D-BBBB-352759DF04F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r>
              <a:rPr b="0" lang="en-US" sz="2000" spc="-1" strike="noStrike">
                <a:latin typeface="Arial"/>
              </a:rPr>
              <a:t>Visual assets used / placeholders:</a:t>
            </a:r>
            <a:endParaRPr b="0" lang="en-GB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- assets/screenshots/feature_target_alignment_error.png</a:t>
            </a:r>
            <a:endParaRPr b="0" lang="en-GB" sz="2000" spc="-1" strike="noStrike">
              <a:latin typeface="Arial"/>
            </a:endParaRPr>
          </a:p>
        </p:txBody>
      </p:sp>
      <p:sp>
        <p:nvSpPr>
          <p:cNvPr id="369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CB7CD14-57B3-482C-A718-81312F6D474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GB" sz="2000" spc="-1" strike="noStrike">
              <a:latin typeface="Arial"/>
            </a:endParaRPr>
          </a:p>
        </p:txBody>
      </p:sp>
      <p:sp>
        <p:nvSpPr>
          <p:cNvPr id="372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1317BF8-B746-4F52-A6D9-F2E130430A6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GB" sz="2000" spc="-1" strike="noStrike">
              <a:latin typeface="Arial"/>
            </a:endParaRPr>
          </a:p>
        </p:txBody>
      </p:sp>
      <p:sp>
        <p:nvSpPr>
          <p:cNvPr id="375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88512F4-615E-4DF8-90BC-266D31159E9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08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GB" sz="1800" spc="-1" strike="noStrike">
                <a:solidFill>
                  <a:srgbClr val="000000"/>
                </a:solidFill>
                <a:latin typeface="Aptos"/>
              </a:rPr>
              <a:t>Click to edit the </a:t>
            </a:r>
            <a:r>
              <a:rPr b="0" lang="en-GB" sz="1800" spc="-1" strike="noStrike">
                <a:solidFill>
                  <a:srgbClr val="000000"/>
                </a:solidFill>
                <a:latin typeface="Aptos"/>
              </a:rPr>
              <a:t>title text format</a:t>
            </a:r>
            <a:endParaRPr b="0" lang="en-GB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0000"/>
                </a:solidFill>
                <a:latin typeface="Aptos"/>
              </a:rPr>
              <a:t>Click to edit the outline text format</a:t>
            </a:r>
            <a:endParaRPr b="0" lang="en-GB" sz="3200" spc="-1" strike="noStrike">
              <a:solidFill>
                <a:srgbClr val="000000"/>
              </a:solidFill>
              <a:latin typeface="Aptos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2400" spc="-1" strike="noStrike">
                <a:solidFill>
                  <a:srgbClr val="000000"/>
                </a:solidFill>
                <a:latin typeface="Aptos"/>
              </a:rPr>
              <a:t>Second Outline Level</a:t>
            </a:r>
            <a:endParaRPr b="0" lang="en-GB" sz="2400" spc="-1" strike="noStrike">
              <a:solidFill>
                <a:srgbClr val="000000"/>
              </a:solidFill>
              <a:latin typeface="Aptos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ptos"/>
              </a:rPr>
              <a:t>Third Outline Level</a:t>
            </a:r>
            <a:endParaRPr b="0" lang="en-GB" sz="2000" spc="-1" strike="noStrike">
              <a:solidFill>
                <a:srgbClr val="000000"/>
              </a:solidFill>
              <a:latin typeface="Aptos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solidFill>
                  <a:srgbClr val="000000"/>
                </a:solidFill>
                <a:latin typeface="Aptos"/>
              </a:rPr>
              <a:t>Fourth Outline Level</a:t>
            </a:r>
            <a:endParaRPr b="0" lang="en-GB" sz="2000" spc="-1" strike="noStrike">
              <a:solidFill>
                <a:srgbClr val="000000"/>
              </a:solidFill>
              <a:latin typeface="Aptos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ptos"/>
              </a:rPr>
              <a:t>Fifth Outline Level</a:t>
            </a:r>
            <a:endParaRPr b="0" lang="en-GB" sz="2000" spc="-1" strike="noStrike">
              <a:solidFill>
                <a:srgbClr val="000000"/>
              </a:solidFill>
              <a:latin typeface="Aptos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ptos"/>
              </a:rPr>
              <a:t>Sixth Outline Level</a:t>
            </a:r>
            <a:endParaRPr b="0" lang="en-GB" sz="2000" spc="-1" strike="noStrike">
              <a:solidFill>
                <a:srgbClr val="000000"/>
              </a:solidFill>
              <a:latin typeface="Aptos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ptos"/>
              </a:rPr>
              <a:t>Seventh Outline Level</a:t>
            </a:r>
            <a:endParaRPr b="0" lang="en-GB" sz="20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Image 0" descr="/mnt/data/btc_reworked_presentation/assets/figures/bitcoin_market_cover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Text 1"/>
          <p:cNvSpPr/>
          <p:nvPr/>
        </p:nvSpPr>
        <p:spPr>
          <a:xfrm>
            <a:off x="502920" y="320040"/>
            <a:ext cx="6949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Aptos Display"/>
                <a:ea typeface="Aptos Display"/>
              </a:rPr>
              <a:t>Introduction: problem framing</a:t>
            </a:r>
            <a:endParaRPr b="0" lang="en-GB" sz="2400" spc="-1" strike="noStrike">
              <a:latin typeface="Arial"/>
            </a:endParaRPr>
          </a:p>
        </p:txBody>
      </p:sp>
      <p:sp>
        <p:nvSpPr>
          <p:cNvPr id="47" name="Text 2"/>
          <p:cNvSpPr/>
          <p:nvPr/>
        </p:nvSpPr>
        <p:spPr>
          <a:xfrm>
            <a:off x="521280" y="78624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a9bdd5"/>
                </a:solidFill>
                <a:latin typeface="Aptos"/>
              </a:rPr>
              <a:t>From price direction to economically usable signals</a:t>
            </a:r>
            <a:endParaRPr b="0" lang="en-GB" sz="980" spc="-1" strike="noStrike">
              <a:latin typeface="Arial"/>
            </a:endParaRPr>
          </a:p>
        </p:txBody>
      </p:sp>
      <p:sp>
        <p:nvSpPr>
          <p:cNvPr id="48" name="Text 3"/>
          <p:cNvSpPr/>
          <p:nvPr/>
        </p:nvSpPr>
        <p:spPr>
          <a:xfrm>
            <a:off x="8732520" y="42984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20" spc="-1" strike="noStrike">
                <a:solidFill>
                  <a:srgbClr val="7da7cc"/>
                </a:solidFill>
                <a:latin typeface="Aptos"/>
              </a:rPr>
              <a:t>BTCUSDT 15m · no final test access</a:t>
            </a:r>
            <a:endParaRPr b="0" lang="en-GB" sz="820" spc="-1" strike="noStrike">
              <a:latin typeface="Arial"/>
            </a:endParaRPr>
          </a:p>
        </p:txBody>
      </p:sp>
      <p:sp>
        <p:nvSpPr>
          <p:cNvPr id="49" name="Shape 4"/>
          <p:cNvSpPr/>
          <p:nvPr/>
        </p:nvSpPr>
        <p:spPr>
          <a:xfrm>
            <a:off x="502920" y="1078920"/>
            <a:ext cx="11201400" cy="360"/>
          </a:xfrm>
          <a:prstGeom prst="line">
            <a:avLst/>
          </a:prstGeom>
          <a:ln w="12700">
            <a:solidFill>
              <a:srgbClr val="2b47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0" name="Shape 5"/>
          <p:cNvSpPr/>
          <p:nvPr/>
        </p:nvSpPr>
        <p:spPr>
          <a:xfrm>
            <a:off x="640080" y="1417320"/>
            <a:ext cx="2599920" cy="895680"/>
          </a:xfrm>
          <a:prstGeom prst="roundRect">
            <a:avLst>
              <a:gd name="adj" fmla="val 7143"/>
            </a:avLst>
          </a:prstGeom>
          <a:solidFill>
            <a:srgbClr val="101c31"/>
          </a:solidFill>
          <a:ln w="12700">
            <a:solidFill>
              <a:srgbClr val="2b47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1" name="Text 6"/>
          <p:cNvSpPr/>
          <p:nvPr/>
        </p:nvSpPr>
        <p:spPr>
          <a:xfrm>
            <a:off x="713880" y="1626480"/>
            <a:ext cx="2490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59e0b"/>
                </a:solidFill>
                <a:latin typeface="Aptos"/>
              </a:rPr>
              <a:t>h4 · h16 · h96</a:t>
            </a:r>
            <a:endParaRPr b="0" lang="en-GB" sz="2200" spc="-1" strike="noStrike">
              <a:latin typeface="Arial"/>
            </a:endParaRPr>
          </a:p>
        </p:txBody>
      </p:sp>
      <p:sp>
        <p:nvSpPr>
          <p:cNvPr id="52" name="Text 7"/>
          <p:cNvSpPr/>
          <p:nvPr/>
        </p:nvSpPr>
        <p:spPr>
          <a:xfrm>
            <a:off x="857880" y="1983600"/>
            <a:ext cx="19746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a9bdd5"/>
                </a:solidFill>
                <a:latin typeface="Aptos"/>
              </a:rPr>
              <a:t>prediction horizons</a:t>
            </a:r>
            <a:endParaRPr b="0" lang="en-GB" sz="850" spc="-1" strike="noStrike">
              <a:latin typeface="Arial"/>
            </a:endParaRPr>
          </a:p>
        </p:txBody>
      </p:sp>
      <p:sp>
        <p:nvSpPr>
          <p:cNvPr id="53" name="Shape 8"/>
          <p:cNvSpPr/>
          <p:nvPr/>
        </p:nvSpPr>
        <p:spPr>
          <a:xfrm>
            <a:off x="3479760" y="1409400"/>
            <a:ext cx="2084400" cy="895680"/>
          </a:xfrm>
          <a:prstGeom prst="roundRect">
            <a:avLst>
              <a:gd name="adj" fmla="val 7143"/>
            </a:avLst>
          </a:prstGeom>
          <a:solidFill>
            <a:srgbClr val="101c31"/>
          </a:solidFill>
          <a:ln w="12700">
            <a:solidFill>
              <a:srgbClr val="2b47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" name="Text 9"/>
          <p:cNvSpPr/>
          <p:nvPr/>
        </p:nvSpPr>
        <p:spPr>
          <a:xfrm>
            <a:off x="3553560" y="1626480"/>
            <a:ext cx="19746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59e0b"/>
                </a:solidFill>
                <a:latin typeface="Aptos"/>
              </a:rPr>
              <a:t>31.9744 bp</a:t>
            </a:r>
            <a:endParaRPr b="0" lang="en-GB" sz="2200" spc="-1" strike="noStrike">
              <a:latin typeface="Arial"/>
            </a:endParaRPr>
          </a:p>
        </p:txBody>
      </p:sp>
      <p:sp>
        <p:nvSpPr>
          <p:cNvPr id="55" name="Text 10"/>
          <p:cNvSpPr/>
          <p:nvPr/>
        </p:nvSpPr>
        <p:spPr>
          <a:xfrm>
            <a:off x="3589560" y="1980000"/>
            <a:ext cx="19746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a9bdd5"/>
                </a:solidFill>
                <a:latin typeface="Aptos"/>
              </a:rPr>
              <a:t>round-trip cost</a:t>
            </a:r>
            <a:endParaRPr b="0" lang="en-GB" sz="850" spc="-1" strike="noStrike">
              <a:latin typeface="Arial"/>
            </a:endParaRPr>
          </a:p>
        </p:txBody>
      </p:sp>
      <p:sp>
        <p:nvSpPr>
          <p:cNvPr id="56" name="Shape 11"/>
          <p:cNvSpPr/>
          <p:nvPr/>
        </p:nvSpPr>
        <p:spPr>
          <a:xfrm>
            <a:off x="5760000" y="1417320"/>
            <a:ext cx="1980000" cy="895680"/>
          </a:xfrm>
          <a:prstGeom prst="roundRect">
            <a:avLst>
              <a:gd name="adj" fmla="val 7143"/>
            </a:avLst>
          </a:prstGeom>
          <a:solidFill>
            <a:srgbClr val="101c31"/>
          </a:solidFill>
          <a:ln w="12700">
            <a:solidFill>
              <a:srgbClr val="2b47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Text 12"/>
          <p:cNvSpPr/>
          <p:nvPr/>
        </p:nvSpPr>
        <p:spPr>
          <a:xfrm>
            <a:off x="5958000" y="1626480"/>
            <a:ext cx="1608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22c55e"/>
                </a:solidFill>
                <a:latin typeface="Aptos"/>
              </a:rPr>
              <a:t>0</a:t>
            </a:r>
            <a:endParaRPr b="0" lang="en-GB" sz="2200" spc="-1" strike="noStrike">
              <a:latin typeface="Arial"/>
            </a:endParaRPr>
          </a:p>
        </p:txBody>
      </p:sp>
      <p:sp>
        <p:nvSpPr>
          <p:cNvPr id="58" name="Text 13"/>
          <p:cNvSpPr/>
          <p:nvPr/>
        </p:nvSpPr>
        <p:spPr>
          <a:xfrm>
            <a:off x="5958000" y="1947600"/>
            <a:ext cx="1608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a9bdd5"/>
                </a:solidFill>
                <a:latin typeface="Aptos"/>
              </a:rPr>
              <a:t>final test access</a:t>
            </a:r>
            <a:endParaRPr b="0" lang="en-GB" sz="850" spc="-1" strike="noStrike">
              <a:latin typeface="Arial"/>
            </a:endParaRPr>
          </a:p>
        </p:txBody>
      </p:sp>
      <p:sp>
        <p:nvSpPr>
          <p:cNvPr id="59" name="Shape 14"/>
          <p:cNvSpPr/>
          <p:nvPr/>
        </p:nvSpPr>
        <p:spPr>
          <a:xfrm>
            <a:off x="7920000" y="1417320"/>
            <a:ext cx="2160000" cy="895680"/>
          </a:xfrm>
          <a:prstGeom prst="roundRect">
            <a:avLst>
              <a:gd name="adj" fmla="val 7143"/>
            </a:avLst>
          </a:prstGeom>
          <a:solidFill>
            <a:srgbClr val="101c31"/>
          </a:solidFill>
          <a:ln w="12700">
            <a:solidFill>
              <a:srgbClr val="2b47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0" name="Text 15"/>
          <p:cNvSpPr/>
          <p:nvPr/>
        </p:nvSpPr>
        <p:spPr>
          <a:xfrm>
            <a:off x="8157600" y="1626480"/>
            <a:ext cx="1700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ef4444"/>
                </a:solidFill>
                <a:latin typeface="Aptos"/>
              </a:rPr>
              <a:t>No Trade</a:t>
            </a:r>
            <a:endParaRPr b="0" lang="en-GB" sz="2200" spc="-1" strike="noStrike">
              <a:latin typeface="Arial"/>
            </a:endParaRPr>
          </a:p>
        </p:txBody>
      </p:sp>
      <p:sp>
        <p:nvSpPr>
          <p:cNvPr id="61" name="Text 16"/>
          <p:cNvSpPr/>
          <p:nvPr/>
        </p:nvSpPr>
        <p:spPr>
          <a:xfrm>
            <a:off x="8157600" y="1947600"/>
            <a:ext cx="17002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a9bdd5"/>
                </a:solidFill>
                <a:latin typeface="Aptos"/>
              </a:rPr>
              <a:t>research decision</a:t>
            </a:r>
            <a:endParaRPr b="0" lang="en-GB" sz="850" spc="-1" strike="noStrike">
              <a:latin typeface="Arial"/>
            </a:endParaRPr>
          </a:p>
        </p:txBody>
      </p:sp>
      <p:sp>
        <p:nvSpPr>
          <p:cNvPr id="62" name="Shape 17"/>
          <p:cNvSpPr/>
          <p:nvPr/>
        </p:nvSpPr>
        <p:spPr>
          <a:xfrm>
            <a:off x="640080" y="2651760"/>
            <a:ext cx="2971440" cy="2102760"/>
          </a:xfrm>
          <a:prstGeom prst="roundRect">
            <a:avLst>
              <a:gd name="adj" fmla="val 3478"/>
            </a:avLst>
          </a:prstGeom>
          <a:solidFill>
            <a:srgbClr val="101c31"/>
          </a:solidFill>
          <a:ln w="12700">
            <a:solidFill>
              <a:srgbClr val="2b47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3" name="Shape 18"/>
          <p:cNvSpPr/>
          <p:nvPr/>
        </p:nvSpPr>
        <p:spPr>
          <a:xfrm>
            <a:off x="640080" y="2651760"/>
            <a:ext cx="54360" cy="2102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4" name="Text 19"/>
          <p:cNvSpPr/>
          <p:nvPr/>
        </p:nvSpPr>
        <p:spPr>
          <a:xfrm>
            <a:off x="804600" y="2788920"/>
            <a:ext cx="2697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Aptos"/>
              </a:rPr>
              <a:t>Problem</a:t>
            </a:r>
            <a:endParaRPr b="0" lang="en-GB" sz="1300" spc="-1" strike="noStrike">
              <a:latin typeface="Arial"/>
            </a:endParaRPr>
          </a:p>
        </p:txBody>
      </p:sp>
      <p:sp>
        <p:nvSpPr>
          <p:cNvPr id="65" name="Text 20"/>
          <p:cNvSpPr/>
          <p:nvPr/>
        </p:nvSpPr>
        <p:spPr>
          <a:xfrm>
            <a:off x="804600" y="3127320"/>
            <a:ext cx="2697120" cy="148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a9bdd5"/>
                </a:solidFill>
                <a:latin typeface="Aptos"/>
              </a:rPr>
              <a:t>Directional accuracy alone is not enough. A signal must survive realistic transaction costs, spread and slippage.</a:t>
            </a:r>
            <a:endParaRPr b="0" lang="en-GB" sz="1050" spc="-1" strike="noStrike">
              <a:latin typeface="Arial"/>
            </a:endParaRPr>
          </a:p>
        </p:txBody>
      </p:sp>
      <p:sp>
        <p:nvSpPr>
          <p:cNvPr id="66" name="Shape 21"/>
          <p:cNvSpPr/>
          <p:nvPr/>
        </p:nvSpPr>
        <p:spPr>
          <a:xfrm>
            <a:off x="3886200" y="2651760"/>
            <a:ext cx="2971440" cy="2102760"/>
          </a:xfrm>
          <a:prstGeom prst="roundRect">
            <a:avLst>
              <a:gd name="adj" fmla="val 3478"/>
            </a:avLst>
          </a:prstGeom>
          <a:solidFill>
            <a:srgbClr val="101c31"/>
          </a:solidFill>
          <a:ln w="12700">
            <a:solidFill>
              <a:srgbClr val="2b47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7" name="Shape 22"/>
          <p:cNvSpPr/>
          <p:nvPr/>
        </p:nvSpPr>
        <p:spPr>
          <a:xfrm>
            <a:off x="3886200" y="2651760"/>
            <a:ext cx="54360" cy="21027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8" name="Text 23"/>
          <p:cNvSpPr/>
          <p:nvPr/>
        </p:nvSpPr>
        <p:spPr>
          <a:xfrm>
            <a:off x="4050720" y="2788920"/>
            <a:ext cx="2697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Aptos"/>
              </a:rPr>
              <a:t>Task</a:t>
            </a:r>
            <a:endParaRPr b="0" lang="en-GB" sz="1300" spc="-1" strike="noStrike">
              <a:latin typeface="Arial"/>
            </a:endParaRPr>
          </a:p>
        </p:txBody>
      </p:sp>
      <p:sp>
        <p:nvSpPr>
          <p:cNvPr id="69" name="Text 24"/>
          <p:cNvSpPr/>
          <p:nvPr/>
        </p:nvSpPr>
        <p:spPr>
          <a:xfrm>
            <a:off x="4050720" y="3127320"/>
            <a:ext cx="2697120" cy="148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a9bdd5"/>
                </a:solidFill>
                <a:latin typeface="Aptos"/>
              </a:rPr>
              <a:t>Binary classification of future direction, plus forward returns for cost-aware economic evaluation.</a:t>
            </a:r>
            <a:endParaRPr b="0" lang="en-GB" sz="1050" spc="-1" strike="noStrike">
              <a:latin typeface="Arial"/>
            </a:endParaRPr>
          </a:p>
        </p:txBody>
      </p:sp>
      <p:sp>
        <p:nvSpPr>
          <p:cNvPr id="70" name="Shape 25"/>
          <p:cNvSpPr/>
          <p:nvPr/>
        </p:nvSpPr>
        <p:spPr>
          <a:xfrm>
            <a:off x="7132320" y="2651760"/>
            <a:ext cx="2971440" cy="2102760"/>
          </a:xfrm>
          <a:prstGeom prst="roundRect">
            <a:avLst>
              <a:gd name="adj" fmla="val 3478"/>
            </a:avLst>
          </a:prstGeom>
          <a:solidFill>
            <a:srgbClr val="101c31"/>
          </a:solidFill>
          <a:ln w="12700">
            <a:solidFill>
              <a:srgbClr val="2b47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1" name="Shape 26"/>
          <p:cNvSpPr/>
          <p:nvPr/>
        </p:nvSpPr>
        <p:spPr>
          <a:xfrm>
            <a:off x="7132320" y="2651760"/>
            <a:ext cx="54360" cy="2102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2" name="Text 27"/>
          <p:cNvSpPr/>
          <p:nvPr/>
        </p:nvSpPr>
        <p:spPr>
          <a:xfrm>
            <a:off x="7296840" y="2788920"/>
            <a:ext cx="2697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Aptos"/>
              </a:rPr>
              <a:t>Decision Rule</a:t>
            </a:r>
            <a:endParaRPr b="0" lang="en-GB" sz="1300" spc="-1" strike="noStrike">
              <a:latin typeface="Arial"/>
            </a:endParaRPr>
          </a:p>
        </p:txBody>
      </p:sp>
      <p:sp>
        <p:nvSpPr>
          <p:cNvPr id="73" name="Text 28"/>
          <p:cNvSpPr/>
          <p:nvPr/>
        </p:nvSpPr>
        <p:spPr>
          <a:xfrm>
            <a:off x="7296840" y="3127320"/>
            <a:ext cx="2697120" cy="148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a9bdd5"/>
                </a:solidFill>
                <a:latin typeface="Aptos"/>
              </a:rPr>
              <a:t>A model is only relevant if it beats No Trade under a predefined Economic Gate.</a:t>
            </a:r>
            <a:endParaRPr b="0" lang="en-GB" sz="1050" spc="-1" strike="noStrike">
              <a:latin typeface="Arial"/>
            </a:endParaRPr>
          </a:p>
        </p:txBody>
      </p:sp>
      <p:sp>
        <p:nvSpPr>
          <p:cNvPr id="74" name="Text 29"/>
          <p:cNvSpPr/>
          <p:nvPr/>
        </p:nvSpPr>
        <p:spPr>
          <a:xfrm>
            <a:off x="914400" y="5349240"/>
            <a:ext cx="9600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Aptos"/>
              </a:rPr>
              <a:t>Core question: can 15-minute BTCUSDT data yield a robust signal after realistic costs?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75" name="Text 30"/>
          <p:cNvSpPr/>
          <p:nvPr/>
        </p:nvSpPr>
        <p:spPr>
          <a:xfrm>
            <a:off x="11594520" y="6510600"/>
            <a:ext cx="273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80" spc="-1" strike="noStrike">
                <a:solidFill>
                  <a:srgbClr val="6c809b"/>
                </a:solidFill>
                <a:latin typeface="Aptos"/>
              </a:rPr>
              <a:t>02</a:t>
            </a:r>
            <a:endParaRPr b="0" lang="en-GB" sz="78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7" name="Text 1"/>
          <p:cNvSpPr/>
          <p:nvPr/>
        </p:nvSpPr>
        <p:spPr>
          <a:xfrm>
            <a:off x="502920" y="320040"/>
            <a:ext cx="6949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Aptos Display"/>
                <a:ea typeface="Aptos Display"/>
              </a:rPr>
              <a:t>Literature review: related solutions</a:t>
            </a:r>
            <a:endParaRPr b="0" lang="en-GB" sz="2400" spc="-1" strike="noStrike">
              <a:latin typeface="Arial"/>
            </a:endParaRPr>
          </a:p>
        </p:txBody>
      </p:sp>
      <p:sp>
        <p:nvSpPr>
          <p:cNvPr id="78" name="Text 2"/>
          <p:cNvSpPr/>
          <p:nvPr/>
        </p:nvSpPr>
        <p:spPr>
          <a:xfrm>
            <a:off x="521280" y="78624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a9bdd5"/>
                </a:solidFill>
                <a:latin typeface="Aptos"/>
              </a:rPr>
              <a:t>What prior work implies for design choices</a:t>
            </a:r>
            <a:endParaRPr b="0" lang="en-GB" sz="980" spc="-1" strike="noStrike">
              <a:latin typeface="Arial"/>
            </a:endParaRPr>
          </a:p>
        </p:txBody>
      </p:sp>
      <p:sp>
        <p:nvSpPr>
          <p:cNvPr id="79" name="Text 3"/>
          <p:cNvSpPr/>
          <p:nvPr/>
        </p:nvSpPr>
        <p:spPr>
          <a:xfrm>
            <a:off x="8732520" y="42984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20" spc="-1" strike="noStrike">
                <a:solidFill>
                  <a:srgbClr val="7da7cc"/>
                </a:solidFill>
                <a:latin typeface="Aptos"/>
              </a:rPr>
              <a:t>BTCUSDT 15m · no final test access</a:t>
            </a:r>
            <a:endParaRPr b="0" lang="en-GB" sz="820" spc="-1" strike="noStrike">
              <a:latin typeface="Arial"/>
            </a:endParaRPr>
          </a:p>
        </p:txBody>
      </p:sp>
      <p:sp>
        <p:nvSpPr>
          <p:cNvPr id="80" name="Shape 4"/>
          <p:cNvSpPr/>
          <p:nvPr/>
        </p:nvSpPr>
        <p:spPr>
          <a:xfrm>
            <a:off x="502920" y="1078920"/>
            <a:ext cx="11201400" cy="360"/>
          </a:xfrm>
          <a:prstGeom prst="line">
            <a:avLst/>
          </a:prstGeom>
          <a:ln w="12700">
            <a:solidFill>
              <a:srgbClr val="2b47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graphicFrame>
        <p:nvGraphicFramePr>
          <p:cNvPr id="81" name="Table 0"/>
          <p:cNvGraphicFramePr/>
          <p:nvPr/>
        </p:nvGraphicFramePr>
        <p:xfrm>
          <a:off x="594360" y="1325880"/>
          <a:ext cx="10972440" cy="4297320"/>
        </p:xfrm>
        <a:graphic>
          <a:graphicData uri="http://schemas.openxmlformats.org/drawingml/2006/table">
            <a:tbl>
              <a:tblPr/>
              <a:tblGrid>
                <a:gridCol w="2148840"/>
                <a:gridCol w="4526280"/>
                <a:gridCol w="4297680"/>
              </a:tblGrid>
              <a:tr h="716040"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91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Reference</a:t>
                      </a:r>
                      <a:endParaRPr b="0" lang="en-GB" sz="910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72a46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91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Relevant idea</a:t>
                      </a:r>
                      <a:endParaRPr b="0" lang="en-GB" sz="910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72a46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91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Adopted design choice</a:t>
                      </a:r>
                      <a:endParaRPr b="0" lang="en-GB" sz="910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72a46"/>
                    </a:solidFill>
                  </a:tcPr>
                </a:tc>
              </a:tr>
              <a:tr h="716040"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1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Zhang et al. (1998)</a:t>
                      </a:r>
                      <a:endParaRPr b="0" lang="en-GB" sz="910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1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Forecasting models need careful validation; raw prediction accuracy can mislead.</a:t>
                      </a:r>
                      <a:endParaRPr b="0" lang="en-GB" sz="910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1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Use baselines and transparent evaluation.</a:t>
                      </a:r>
                      <a:endParaRPr b="0" lang="en-GB" sz="910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11d33"/>
                    </a:solidFill>
                  </a:tcPr>
                </a:tc>
              </a:tr>
              <a:tr h="716040"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1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Fischer &amp; Krauss (2018)</a:t>
                      </a:r>
                      <a:endParaRPr b="0" lang="en-GB" sz="910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1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Deep learning can identify statistical signals in financial series.</a:t>
                      </a:r>
                      <a:endParaRPr b="0" lang="en-GB" sz="910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1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Compare ML signals against strict validation.</a:t>
                      </a:r>
                      <a:endParaRPr b="0" lang="en-GB" sz="910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11d33"/>
                    </a:solidFill>
                  </a:tcPr>
                </a:tc>
              </a:tr>
              <a:tr h="716040"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1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Ke et al. (2017)</a:t>
                      </a:r>
                      <a:endParaRPr b="0" lang="en-GB" sz="910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1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Gradient boosting handles wide tabular feature spaces efficiently.</a:t>
                      </a:r>
                      <a:endParaRPr b="0" lang="en-GB" sz="910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1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Use LightGBM for feature-rich classification.</a:t>
                      </a:r>
                      <a:endParaRPr b="0" lang="en-GB" sz="910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11d33"/>
                    </a:solidFill>
                  </a:tcPr>
                </a:tc>
              </a:tr>
              <a:tr h="716040"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1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Prokhorenkova et al. (2018)</a:t>
                      </a:r>
                      <a:endParaRPr b="0" lang="en-GB" sz="910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1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Ordered boosting reduces leakage-like target statistics bias.</a:t>
                      </a:r>
                      <a:endParaRPr b="0" lang="en-GB" sz="910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1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Use CatBoost as leakage-aware comparison.</a:t>
                      </a:r>
                      <a:endParaRPr b="0" lang="en-GB" sz="910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11d33"/>
                    </a:solidFill>
                  </a:tcPr>
                </a:tc>
              </a:tr>
              <a:tr h="717120"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1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Lopez de Prado (2018)</a:t>
                      </a:r>
                      <a:endParaRPr b="0" lang="en-GB" sz="910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1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Financial ML needs purging, embargo and backtest discipline.</a:t>
                      </a:r>
                      <a:endParaRPr b="0" lang="en-GB" sz="910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1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Walk-forward validation and locked final test.</a:t>
                      </a:r>
                      <a:endParaRPr b="0" lang="en-GB" sz="910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11d33"/>
                    </a:solidFill>
                  </a:tcPr>
                </a:tc>
              </a:tr>
            </a:tbl>
          </a:graphicData>
        </a:graphic>
      </p:graphicFrame>
      <p:sp>
        <p:nvSpPr>
          <p:cNvPr id="82" name="Text 5"/>
          <p:cNvSpPr/>
          <p:nvPr/>
        </p:nvSpPr>
        <p:spPr>
          <a:xfrm>
            <a:off x="1005840" y="594360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59e0b"/>
                </a:solidFill>
                <a:latin typeface="Aptos"/>
              </a:rPr>
              <a:t>Takeaway: this project evaluates signals as trading candidates, not only as classifiers.</a:t>
            </a:r>
            <a:endParaRPr b="0" lang="en-GB" sz="1500" spc="-1" strike="noStrike">
              <a:latin typeface="Arial"/>
            </a:endParaRPr>
          </a:p>
        </p:txBody>
      </p:sp>
      <p:sp>
        <p:nvSpPr>
          <p:cNvPr id="83" name="Text 6"/>
          <p:cNvSpPr/>
          <p:nvPr/>
        </p:nvSpPr>
        <p:spPr>
          <a:xfrm>
            <a:off x="11594520" y="6510600"/>
            <a:ext cx="273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80" spc="-1" strike="noStrike">
                <a:solidFill>
                  <a:srgbClr val="6c809b"/>
                </a:solidFill>
                <a:latin typeface="Aptos"/>
              </a:rPr>
              <a:t>03</a:t>
            </a:r>
            <a:endParaRPr b="0" lang="en-GB" sz="78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5" name="Text 1"/>
          <p:cNvSpPr/>
          <p:nvPr/>
        </p:nvSpPr>
        <p:spPr>
          <a:xfrm>
            <a:off x="502920" y="320040"/>
            <a:ext cx="6949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Aptos Display"/>
                <a:ea typeface="Aptos Display"/>
              </a:rPr>
              <a:t>Dataset characteristics</a:t>
            </a:r>
            <a:endParaRPr b="0" lang="en-GB" sz="2400" spc="-1" strike="noStrike">
              <a:latin typeface="Arial"/>
            </a:endParaRPr>
          </a:p>
        </p:txBody>
      </p:sp>
      <p:sp>
        <p:nvSpPr>
          <p:cNvPr id="86" name="Text 2"/>
          <p:cNvSpPr/>
          <p:nvPr/>
        </p:nvSpPr>
        <p:spPr>
          <a:xfrm>
            <a:off x="521280" y="78624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a9bdd5"/>
                </a:solidFill>
                <a:latin typeface="Aptos"/>
              </a:rPr>
              <a:t>Canonical BTCUSDT 15-minute candles with documented data-quality warnings</a:t>
            </a:r>
            <a:endParaRPr b="0" lang="en-GB" sz="980" spc="-1" strike="noStrike">
              <a:latin typeface="Arial"/>
            </a:endParaRPr>
          </a:p>
        </p:txBody>
      </p:sp>
      <p:sp>
        <p:nvSpPr>
          <p:cNvPr id="87" name="Text 3"/>
          <p:cNvSpPr/>
          <p:nvPr/>
        </p:nvSpPr>
        <p:spPr>
          <a:xfrm>
            <a:off x="8732520" y="42984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20" spc="-1" strike="noStrike">
                <a:solidFill>
                  <a:srgbClr val="7da7cc"/>
                </a:solidFill>
                <a:latin typeface="Aptos"/>
              </a:rPr>
              <a:t>BTCUSDT 15m · no final test access</a:t>
            </a:r>
            <a:endParaRPr b="0" lang="en-GB" sz="820" spc="-1" strike="noStrike">
              <a:latin typeface="Arial"/>
            </a:endParaRPr>
          </a:p>
        </p:txBody>
      </p:sp>
      <p:sp>
        <p:nvSpPr>
          <p:cNvPr id="88" name="Shape 4"/>
          <p:cNvSpPr/>
          <p:nvPr/>
        </p:nvSpPr>
        <p:spPr>
          <a:xfrm>
            <a:off x="502920" y="1078920"/>
            <a:ext cx="11201400" cy="360"/>
          </a:xfrm>
          <a:prstGeom prst="line">
            <a:avLst/>
          </a:prstGeom>
          <a:ln w="12700">
            <a:solidFill>
              <a:srgbClr val="2b47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9" name="Shape 5"/>
          <p:cNvSpPr/>
          <p:nvPr/>
        </p:nvSpPr>
        <p:spPr>
          <a:xfrm>
            <a:off x="7543800" y="1325880"/>
            <a:ext cx="3337200" cy="1096920"/>
          </a:xfrm>
          <a:prstGeom prst="roundRect">
            <a:avLst>
              <a:gd name="adj" fmla="val 6667"/>
            </a:avLst>
          </a:prstGeom>
          <a:solidFill>
            <a:srgbClr val="101c31"/>
          </a:solidFill>
          <a:ln w="12700">
            <a:solidFill>
              <a:srgbClr val="2b47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0" name="Shape 6"/>
          <p:cNvSpPr/>
          <p:nvPr/>
        </p:nvSpPr>
        <p:spPr>
          <a:xfrm>
            <a:off x="7543800" y="1325880"/>
            <a:ext cx="54360" cy="10969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1" name="Text 7"/>
          <p:cNvSpPr/>
          <p:nvPr/>
        </p:nvSpPr>
        <p:spPr>
          <a:xfrm>
            <a:off x="7708320" y="1463040"/>
            <a:ext cx="3062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Aptos"/>
              </a:rPr>
              <a:t>Coverage</a:t>
            </a:r>
            <a:endParaRPr b="0" lang="en-GB" sz="1300" spc="-1" strike="noStrike">
              <a:latin typeface="Arial"/>
            </a:endParaRPr>
          </a:p>
        </p:txBody>
      </p:sp>
      <p:sp>
        <p:nvSpPr>
          <p:cNvPr id="92" name="Text 8"/>
          <p:cNvSpPr/>
          <p:nvPr/>
        </p:nvSpPr>
        <p:spPr>
          <a:xfrm>
            <a:off x="7708320" y="1801440"/>
            <a:ext cx="3062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a9bdd5"/>
                </a:solidFill>
                <a:latin typeface="Aptos"/>
              </a:rPr>
              <a:t>2020-01-01 to 2026-07-31 · 230,618 rows · 15 OHLCV / metadata columns.</a:t>
            </a:r>
            <a:endParaRPr b="0" lang="en-GB" sz="1050" spc="-1" strike="noStrike">
              <a:latin typeface="Arial"/>
            </a:endParaRPr>
          </a:p>
        </p:txBody>
      </p:sp>
      <p:sp>
        <p:nvSpPr>
          <p:cNvPr id="93" name="Shape 9"/>
          <p:cNvSpPr/>
          <p:nvPr/>
        </p:nvSpPr>
        <p:spPr>
          <a:xfrm>
            <a:off x="7543800" y="2697480"/>
            <a:ext cx="3337200" cy="1096920"/>
          </a:xfrm>
          <a:prstGeom prst="roundRect">
            <a:avLst>
              <a:gd name="adj" fmla="val 6667"/>
            </a:avLst>
          </a:prstGeom>
          <a:solidFill>
            <a:srgbClr val="101c31"/>
          </a:solidFill>
          <a:ln w="12700">
            <a:solidFill>
              <a:srgbClr val="2b47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4" name="Shape 10"/>
          <p:cNvSpPr/>
          <p:nvPr/>
        </p:nvSpPr>
        <p:spPr>
          <a:xfrm>
            <a:off x="7543800" y="2697480"/>
            <a:ext cx="54360" cy="1096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5" name="Text 11"/>
          <p:cNvSpPr/>
          <p:nvPr/>
        </p:nvSpPr>
        <p:spPr>
          <a:xfrm>
            <a:off x="7708320" y="2834640"/>
            <a:ext cx="3062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Aptos"/>
              </a:rPr>
              <a:t>Quality status</a:t>
            </a:r>
            <a:endParaRPr b="0" lang="en-GB" sz="1300" spc="-1" strike="noStrike">
              <a:latin typeface="Arial"/>
            </a:endParaRPr>
          </a:p>
        </p:txBody>
      </p:sp>
      <p:sp>
        <p:nvSpPr>
          <p:cNvPr id="96" name="Text 12"/>
          <p:cNvSpPr/>
          <p:nvPr/>
        </p:nvSpPr>
        <p:spPr>
          <a:xfrm>
            <a:off x="7708320" y="3173040"/>
            <a:ext cx="3062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99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a9bdd5"/>
                </a:solidFill>
                <a:latin typeface="Aptos"/>
              </a:rPr>
              <a:t>No hard schema errors; warnings retained and documented instead of silently cleaned away.</a:t>
            </a:r>
            <a:endParaRPr b="0" lang="en-GB" sz="1050" spc="-1" strike="noStrike">
              <a:latin typeface="Arial"/>
            </a:endParaRPr>
          </a:p>
        </p:txBody>
      </p:sp>
      <p:sp>
        <p:nvSpPr>
          <p:cNvPr id="97" name="Shape 13"/>
          <p:cNvSpPr/>
          <p:nvPr/>
        </p:nvSpPr>
        <p:spPr>
          <a:xfrm>
            <a:off x="7543800" y="4069080"/>
            <a:ext cx="3337200" cy="1096920"/>
          </a:xfrm>
          <a:prstGeom prst="roundRect">
            <a:avLst>
              <a:gd name="adj" fmla="val 6667"/>
            </a:avLst>
          </a:prstGeom>
          <a:solidFill>
            <a:srgbClr val="101c31"/>
          </a:solidFill>
          <a:ln w="12700">
            <a:solidFill>
              <a:srgbClr val="2b47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8" name="Shape 14"/>
          <p:cNvSpPr/>
          <p:nvPr/>
        </p:nvSpPr>
        <p:spPr>
          <a:xfrm>
            <a:off x="7543800" y="4069080"/>
            <a:ext cx="54360" cy="1096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9" name="Text 15"/>
          <p:cNvSpPr/>
          <p:nvPr/>
        </p:nvSpPr>
        <p:spPr>
          <a:xfrm>
            <a:off x="7708320" y="4206240"/>
            <a:ext cx="3062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Aptos"/>
              </a:rPr>
              <a:t>Modeling impact</a:t>
            </a:r>
            <a:endParaRPr b="0" lang="en-GB" sz="1300" spc="-1" strike="noStrike">
              <a:latin typeface="Arial"/>
            </a:endParaRPr>
          </a:p>
        </p:txBody>
      </p:sp>
      <p:sp>
        <p:nvSpPr>
          <p:cNvPr id="100" name="Text 16"/>
          <p:cNvSpPr/>
          <p:nvPr/>
        </p:nvSpPr>
        <p:spPr>
          <a:xfrm>
            <a:off x="7708320" y="4544640"/>
            <a:ext cx="3062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99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a9bdd5"/>
                </a:solidFill>
                <a:latin typeface="Aptos"/>
              </a:rPr>
              <a:t>Missing candles and anomalous close times required horizon-aware targets and strict alignment.</a:t>
            </a:r>
            <a:endParaRPr b="0" lang="en-GB" sz="1050" spc="-1" strike="noStrike">
              <a:latin typeface="Arial"/>
            </a:endParaRPr>
          </a:p>
        </p:txBody>
      </p:sp>
      <p:sp>
        <p:nvSpPr>
          <p:cNvPr id="101" name="Text 17"/>
          <p:cNvSpPr/>
          <p:nvPr/>
        </p:nvSpPr>
        <p:spPr>
          <a:xfrm>
            <a:off x="11594520" y="6510600"/>
            <a:ext cx="273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80" spc="-1" strike="noStrike">
                <a:solidFill>
                  <a:srgbClr val="6c809b"/>
                </a:solidFill>
                <a:latin typeface="Aptos"/>
              </a:rPr>
              <a:t>04</a:t>
            </a:r>
            <a:endParaRPr b="0" lang="en-GB" sz="780" spc="-1" strike="noStrike">
              <a:latin typeface="Arial"/>
            </a:endParaRPr>
          </a:p>
        </p:txBody>
      </p:sp>
      <p:pic>
        <p:nvPicPr>
          <p:cNvPr id="102" name="" descr=""/>
          <p:cNvPicPr/>
          <p:nvPr/>
        </p:nvPicPr>
        <p:blipFill>
          <a:blip r:embed="rId1"/>
          <a:stretch/>
        </p:blipFill>
        <p:spPr>
          <a:xfrm>
            <a:off x="400320" y="1205280"/>
            <a:ext cx="6619680" cy="4647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Text 1"/>
          <p:cNvSpPr/>
          <p:nvPr/>
        </p:nvSpPr>
        <p:spPr>
          <a:xfrm>
            <a:off x="502920" y="320040"/>
            <a:ext cx="6949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Aptos Display"/>
                <a:ea typeface="Aptos Display"/>
              </a:rPr>
              <a:t>Dataset preprocessing and feature engineering</a:t>
            </a:r>
            <a:endParaRPr b="0" lang="en-GB" sz="2400" spc="-1" strike="noStrike">
              <a:latin typeface="Arial"/>
            </a:endParaRPr>
          </a:p>
        </p:txBody>
      </p:sp>
      <p:sp>
        <p:nvSpPr>
          <p:cNvPr id="105" name="Text 2"/>
          <p:cNvSpPr/>
          <p:nvPr/>
        </p:nvSpPr>
        <p:spPr>
          <a:xfrm>
            <a:off x="521280" y="78624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a9bdd5"/>
                </a:solidFill>
                <a:latin typeface="Aptos"/>
              </a:rPr>
              <a:t>From raw candles to leakage-safe modeling rows</a:t>
            </a:r>
            <a:endParaRPr b="0" lang="en-GB" sz="980" spc="-1" strike="noStrike">
              <a:latin typeface="Arial"/>
            </a:endParaRPr>
          </a:p>
        </p:txBody>
      </p:sp>
      <p:sp>
        <p:nvSpPr>
          <p:cNvPr id="106" name="Text 3"/>
          <p:cNvSpPr/>
          <p:nvPr/>
        </p:nvSpPr>
        <p:spPr>
          <a:xfrm>
            <a:off x="8732520" y="42984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20" spc="-1" strike="noStrike">
                <a:solidFill>
                  <a:srgbClr val="7da7cc"/>
                </a:solidFill>
                <a:latin typeface="Aptos"/>
              </a:rPr>
              <a:t>BTCUSDT 15m · no final test access</a:t>
            </a:r>
            <a:endParaRPr b="0" lang="en-GB" sz="820" spc="-1" strike="noStrike">
              <a:latin typeface="Arial"/>
            </a:endParaRPr>
          </a:p>
        </p:txBody>
      </p:sp>
      <p:sp>
        <p:nvSpPr>
          <p:cNvPr id="107" name="Shape 4"/>
          <p:cNvSpPr/>
          <p:nvPr/>
        </p:nvSpPr>
        <p:spPr>
          <a:xfrm>
            <a:off x="502920" y="1078920"/>
            <a:ext cx="11201400" cy="360"/>
          </a:xfrm>
          <a:prstGeom prst="line">
            <a:avLst/>
          </a:prstGeom>
          <a:ln w="12700">
            <a:solidFill>
              <a:srgbClr val="2b47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Shape 5"/>
          <p:cNvSpPr/>
          <p:nvPr/>
        </p:nvSpPr>
        <p:spPr>
          <a:xfrm>
            <a:off x="640080" y="1874520"/>
            <a:ext cx="1919880" cy="1234080"/>
          </a:xfrm>
          <a:prstGeom prst="roundRect">
            <a:avLst>
              <a:gd name="adj" fmla="val 5926"/>
            </a:avLst>
          </a:prstGeom>
          <a:solidFill>
            <a:srgbClr val="101c31"/>
          </a:solidFill>
          <a:ln w="12700">
            <a:solidFill>
              <a:srgbClr val="2b47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9" name="Text 6"/>
          <p:cNvSpPr/>
          <p:nvPr/>
        </p:nvSpPr>
        <p:spPr>
          <a:xfrm>
            <a:off x="696240" y="2075760"/>
            <a:ext cx="18010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ptos"/>
              </a:rPr>
              <a:t>Validate</a:t>
            </a:r>
            <a:endParaRPr b="0" lang="en-GB" sz="1500" spc="-1" strike="noStrike">
              <a:latin typeface="Arial"/>
            </a:endParaRPr>
          </a:p>
        </p:txBody>
      </p:sp>
      <p:sp>
        <p:nvSpPr>
          <p:cNvPr id="110" name="Text 7"/>
          <p:cNvSpPr/>
          <p:nvPr/>
        </p:nvSpPr>
        <p:spPr>
          <a:xfrm>
            <a:off x="741240" y="2496240"/>
            <a:ext cx="1782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a9bdd5"/>
                </a:solidFill>
                <a:latin typeface="Aptos"/>
              </a:rPr>
              <a:t>schema, gaps, OHLC logic</a:t>
            </a:r>
            <a:endParaRPr b="0" lang="en-GB" sz="950" spc="-1" strike="noStrike">
              <a:latin typeface="Arial"/>
            </a:endParaRPr>
          </a:p>
        </p:txBody>
      </p:sp>
      <p:sp>
        <p:nvSpPr>
          <p:cNvPr id="111" name="Shape 8"/>
          <p:cNvSpPr/>
          <p:nvPr/>
        </p:nvSpPr>
        <p:spPr>
          <a:xfrm>
            <a:off x="2626560" y="2313360"/>
            <a:ext cx="292320" cy="292320"/>
          </a:xfrm>
          <a:prstGeom prst="chevron">
            <a:avLst>
              <a:gd name="adj" fmla="val 50000"/>
            </a:avLst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2" name="Shape 9"/>
          <p:cNvSpPr/>
          <p:nvPr/>
        </p:nvSpPr>
        <p:spPr>
          <a:xfrm>
            <a:off x="3017520" y="1874520"/>
            <a:ext cx="1842480" cy="1234080"/>
          </a:xfrm>
          <a:prstGeom prst="roundRect">
            <a:avLst>
              <a:gd name="adj" fmla="val 5926"/>
            </a:avLst>
          </a:prstGeom>
          <a:solidFill>
            <a:srgbClr val="101c31"/>
          </a:solidFill>
          <a:ln w="12700">
            <a:solidFill>
              <a:srgbClr val="2b47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3" name="Text 10"/>
          <p:cNvSpPr/>
          <p:nvPr/>
        </p:nvSpPr>
        <p:spPr>
          <a:xfrm>
            <a:off x="3008520" y="2075760"/>
            <a:ext cx="18010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ptos"/>
              </a:rPr>
              <a:t>Clean</a:t>
            </a:r>
            <a:endParaRPr b="0" lang="en-GB" sz="1500" spc="-1" strike="noStrike">
              <a:latin typeface="Arial"/>
            </a:endParaRPr>
          </a:p>
        </p:txBody>
      </p:sp>
      <p:sp>
        <p:nvSpPr>
          <p:cNvPr id="114" name="Text 11"/>
          <p:cNvSpPr/>
          <p:nvPr/>
        </p:nvSpPr>
        <p:spPr>
          <a:xfrm>
            <a:off x="3017520" y="2496240"/>
            <a:ext cx="1782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a9bdd5"/>
                </a:solidFill>
                <a:latin typeface="Aptos"/>
              </a:rPr>
              <a:t>deduplicate, align timestamps</a:t>
            </a:r>
            <a:endParaRPr b="0" lang="en-GB" sz="950" spc="-1" strike="noStrike">
              <a:latin typeface="Arial"/>
            </a:endParaRPr>
          </a:p>
        </p:txBody>
      </p:sp>
      <p:sp>
        <p:nvSpPr>
          <p:cNvPr id="115" name="Shape 12"/>
          <p:cNvSpPr/>
          <p:nvPr/>
        </p:nvSpPr>
        <p:spPr>
          <a:xfrm>
            <a:off x="4920480" y="2313360"/>
            <a:ext cx="292320" cy="292320"/>
          </a:xfrm>
          <a:prstGeom prst="chevron">
            <a:avLst>
              <a:gd name="adj" fmla="val 50000"/>
            </a:avLst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Shape 13"/>
          <p:cNvSpPr/>
          <p:nvPr/>
        </p:nvSpPr>
        <p:spPr>
          <a:xfrm>
            <a:off x="5293800" y="1874520"/>
            <a:ext cx="1746720" cy="1234080"/>
          </a:xfrm>
          <a:prstGeom prst="roundRect">
            <a:avLst>
              <a:gd name="adj" fmla="val 5926"/>
            </a:avLst>
          </a:prstGeom>
          <a:solidFill>
            <a:srgbClr val="101c31"/>
          </a:solidFill>
          <a:ln w="12700">
            <a:solidFill>
              <a:srgbClr val="2b47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Text 14"/>
          <p:cNvSpPr/>
          <p:nvPr/>
        </p:nvSpPr>
        <p:spPr>
          <a:xfrm>
            <a:off x="5248800" y="2075760"/>
            <a:ext cx="18010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ptos"/>
              </a:rPr>
              <a:t>Engineer</a:t>
            </a:r>
            <a:endParaRPr b="0" lang="en-GB" sz="1500" spc="-1" strike="noStrike">
              <a:latin typeface="Arial"/>
            </a:endParaRPr>
          </a:p>
        </p:txBody>
      </p:sp>
      <p:sp>
        <p:nvSpPr>
          <p:cNvPr id="118" name="Text 15"/>
          <p:cNvSpPr/>
          <p:nvPr/>
        </p:nvSpPr>
        <p:spPr>
          <a:xfrm>
            <a:off x="5257800" y="2496240"/>
            <a:ext cx="1782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a9bdd5"/>
                </a:solidFill>
                <a:latin typeface="Aptos"/>
              </a:rPr>
              <a:t>rolling stats, TA indicators</a:t>
            </a:r>
            <a:endParaRPr b="0" lang="en-GB" sz="950" spc="-1" strike="noStrike">
              <a:latin typeface="Arial"/>
            </a:endParaRPr>
          </a:p>
        </p:txBody>
      </p:sp>
      <p:sp>
        <p:nvSpPr>
          <p:cNvPr id="119" name="Shape 16"/>
          <p:cNvSpPr/>
          <p:nvPr/>
        </p:nvSpPr>
        <p:spPr>
          <a:xfrm>
            <a:off x="7107120" y="2313360"/>
            <a:ext cx="292320" cy="292320"/>
          </a:xfrm>
          <a:prstGeom prst="chevron">
            <a:avLst>
              <a:gd name="adj" fmla="val 50000"/>
            </a:avLst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0" name="Shape 17"/>
          <p:cNvSpPr/>
          <p:nvPr/>
        </p:nvSpPr>
        <p:spPr>
          <a:xfrm>
            <a:off x="7498080" y="1874520"/>
            <a:ext cx="1782720" cy="1234080"/>
          </a:xfrm>
          <a:prstGeom prst="roundRect">
            <a:avLst>
              <a:gd name="adj" fmla="val 5926"/>
            </a:avLst>
          </a:prstGeom>
          <a:solidFill>
            <a:srgbClr val="101c31"/>
          </a:solidFill>
          <a:ln w="12700">
            <a:solidFill>
              <a:srgbClr val="2b47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1" name="Text 18"/>
          <p:cNvSpPr/>
          <p:nvPr/>
        </p:nvSpPr>
        <p:spPr>
          <a:xfrm>
            <a:off x="7489080" y="2075760"/>
            <a:ext cx="18010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ptos"/>
              </a:rPr>
              <a:t>Target</a:t>
            </a:r>
            <a:endParaRPr b="0" lang="en-GB" sz="1500" spc="-1" strike="noStrike">
              <a:latin typeface="Arial"/>
            </a:endParaRPr>
          </a:p>
        </p:txBody>
      </p:sp>
      <p:sp>
        <p:nvSpPr>
          <p:cNvPr id="122" name="Text 19"/>
          <p:cNvSpPr/>
          <p:nvPr/>
        </p:nvSpPr>
        <p:spPr>
          <a:xfrm>
            <a:off x="7498080" y="2496240"/>
            <a:ext cx="1782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a9bdd5"/>
                </a:solidFill>
                <a:latin typeface="Aptos"/>
              </a:rPr>
              <a:t>h4 / h16 / h96 forward returns</a:t>
            </a:r>
            <a:endParaRPr b="0" lang="en-GB" sz="950" spc="-1" strike="noStrike">
              <a:latin typeface="Arial"/>
            </a:endParaRPr>
          </a:p>
        </p:txBody>
      </p:sp>
      <p:sp>
        <p:nvSpPr>
          <p:cNvPr id="123" name="Shape 20"/>
          <p:cNvSpPr/>
          <p:nvPr/>
        </p:nvSpPr>
        <p:spPr>
          <a:xfrm>
            <a:off x="9347400" y="2313360"/>
            <a:ext cx="292320" cy="292320"/>
          </a:xfrm>
          <a:prstGeom prst="chevron">
            <a:avLst>
              <a:gd name="adj" fmla="val 50000"/>
            </a:avLst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4" name="Shape 21"/>
          <p:cNvSpPr/>
          <p:nvPr/>
        </p:nvSpPr>
        <p:spPr>
          <a:xfrm>
            <a:off x="9738360" y="1874520"/>
            <a:ext cx="1919880" cy="1234080"/>
          </a:xfrm>
          <a:prstGeom prst="roundRect">
            <a:avLst>
              <a:gd name="adj" fmla="val 5926"/>
            </a:avLst>
          </a:prstGeom>
          <a:solidFill>
            <a:srgbClr val="101c31"/>
          </a:solidFill>
          <a:ln w="12700">
            <a:solidFill>
              <a:srgbClr val="2b47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5" name="Text 22"/>
          <p:cNvSpPr/>
          <p:nvPr/>
        </p:nvSpPr>
        <p:spPr>
          <a:xfrm>
            <a:off x="9729360" y="2075760"/>
            <a:ext cx="18010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ptos"/>
              </a:rPr>
              <a:t>Split</a:t>
            </a:r>
            <a:endParaRPr b="0" lang="en-GB" sz="1500" spc="-1" strike="noStrike">
              <a:latin typeface="Arial"/>
            </a:endParaRPr>
          </a:p>
        </p:txBody>
      </p:sp>
      <p:sp>
        <p:nvSpPr>
          <p:cNvPr id="126" name="Text 23"/>
          <p:cNvSpPr/>
          <p:nvPr/>
        </p:nvSpPr>
        <p:spPr>
          <a:xfrm>
            <a:off x="9846360" y="2496240"/>
            <a:ext cx="1782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a9bdd5"/>
                </a:solidFill>
                <a:latin typeface="Aptos"/>
              </a:rPr>
              <a:t>purged walk-forward folds</a:t>
            </a:r>
            <a:endParaRPr b="0" lang="en-GB" sz="950" spc="-1" strike="noStrike">
              <a:latin typeface="Arial"/>
            </a:endParaRPr>
          </a:p>
        </p:txBody>
      </p:sp>
      <p:graphicFrame>
        <p:nvGraphicFramePr>
          <p:cNvPr id="127" name="Table 0"/>
          <p:cNvGraphicFramePr/>
          <p:nvPr/>
        </p:nvGraphicFramePr>
        <p:xfrm>
          <a:off x="777240" y="3886200"/>
          <a:ext cx="10606680" cy="1554120"/>
        </p:xfrm>
        <a:graphic>
          <a:graphicData uri="http://schemas.openxmlformats.org/drawingml/2006/table">
            <a:tbl>
              <a:tblPr/>
              <a:tblGrid>
                <a:gridCol w="2194560"/>
                <a:gridCol w="4251960"/>
                <a:gridCol w="4160520"/>
              </a:tblGrid>
              <a:tr h="310680"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88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Feature group</a:t>
                      </a:r>
                      <a:endParaRPr b="0" lang="en-GB" sz="880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72a46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88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Examples</a:t>
                      </a:r>
                      <a:endParaRPr b="0" lang="en-GB" sz="880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72a46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88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Purpose</a:t>
                      </a:r>
                      <a:endParaRPr b="0" lang="en-GB" sz="880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72a46"/>
                    </a:solidFill>
                  </a:tcPr>
                </a:tc>
              </a:tr>
              <a:tr h="310680"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88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Returns / momentum</a:t>
                      </a:r>
                      <a:endParaRPr b="0" lang="en-GB" sz="880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88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log returns, lagged momentum</a:t>
                      </a:r>
                      <a:endParaRPr b="0" lang="en-GB" sz="880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88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trend direction</a:t>
                      </a:r>
                      <a:endParaRPr b="0" lang="en-GB" sz="880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11d33"/>
                    </a:solidFill>
                  </a:tcPr>
                </a:tc>
              </a:tr>
              <a:tr h="310680"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88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Volatility / risk</a:t>
                      </a:r>
                      <a:endParaRPr b="0" lang="en-GB" sz="880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88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rolling std., ranges, downside moves</a:t>
                      </a:r>
                      <a:endParaRPr b="0" lang="en-GB" sz="880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88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market regime</a:t>
                      </a:r>
                      <a:endParaRPr b="0" lang="en-GB" sz="880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11d33"/>
                    </a:solidFill>
                  </a:tcPr>
                </a:tc>
              </a:tr>
              <a:tr h="310680"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88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Volume / trades</a:t>
                      </a:r>
                      <a:endParaRPr b="0" lang="en-GB" sz="880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88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volume changes, number of trades</a:t>
                      </a:r>
                      <a:endParaRPr b="0" lang="en-GB" sz="880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88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liquidity &amp; activity</a:t>
                      </a:r>
                      <a:endParaRPr b="0" lang="en-GB" sz="880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11d33"/>
                    </a:solidFill>
                  </a:tcPr>
                </a:tc>
              </a:tr>
              <a:tr h="311400"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88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Candle structure</a:t>
                      </a:r>
                      <a:endParaRPr b="0" lang="en-GB" sz="880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88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body, wicks, relative position</a:t>
                      </a:r>
                      <a:endParaRPr b="0" lang="en-GB" sz="880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88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microstructure</a:t>
                      </a:r>
                      <a:endParaRPr b="0" lang="en-GB" sz="880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11d33"/>
                    </a:solidFill>
                  </a:tcPr>
                </a:tc>
              </a:tr>
            </a:tbl>
          </a:graphicData>
        </a:graphic>
      </p:graphicFrame>
      <p:sp>
        <p:nvSpPr>
          <p:cNvPr id="128" name="Shape 24"/>
          <p:cNvSpPr/>
          <p:nvPr/>
        </p:nvSpPr>
        <p:spPr>
          <a:xfrm>
            <a:off x="777240" y="1143000"/>
            <a:ext cx="1645560" cy="310680"/>
          </a:xfrm>
          <a:prstGeom prst="roundRect">
            <a:avLst>
              <a:gd name="adj" fmla="val 23529"/>
            </a:avLst>
          </a:prstGeom>
          <a:solidFill>
            <a:srgbClr val="38bdf8">
              <a:alpha val="15000"/>
            </a:srgbClr>
          </a:solidFill>
          <a:ln w="10160">
            <a:solidFill>
              <a:srgbClr val="38bdf8">
                <a:alpha val="8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9" name="Text 25"/>
          <p:cNvSpPr/>
          <p:nvPr/>
        </p:nvSpPr>
        <p:spPr>
          <a:xfrm>
            <a:off x="850320" y="1216080"/>
            <a:ext cx="149940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Aptos"/>
              </a:rPr>
              <a:t>333 retained predictors</a:t>
            </a:r>
            <a:endParaRPr b="0" lang="en-GB" sz="850" spc="-1" strike="noStrike">
              <a:latin typeface="Arial"/>
            </a:endParaRPr>
          </a:p>
        </p:txBody>
      </p:sp>
      <p:sp>
        <p:nvSpPr>
          <p:cNvPr id="130" name="Shape 26"/>
          <p:cNvSpPr/>
          <p:nvPr/>
        </p:nvSpPr>
        <p:spPr>
          <a:xfrm>
            <a:off x="2606040" y="1143000"/>
            <a:ext cx="1462680" cy="310680"/>
          </a:xfrm>
          <a:prstGeom prst="roundRect">
            <a:avLst>
              <a:gd name="adj" fmla="val 23529"/>
            </a:avLst>
          </a:prstGeom>
          <a:solidFill>
            <a:srgbClr val="22c55e">
              <a:alpha val="15000"/>
            </a:srgbClr>
          </a:solidFill>
          <a:ln w="10160">
            <a:solidFill>
              <a:srgbClr val="22c55e">
                <a:alpha val="8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1" name="Text 27"/>
          <p:cNvSpPr/>
          <p:nvPr/>
        </p:nvSpPr>
        <p:spPr>
          <a:xfrm>
            <a:off x="2679120" y="1216080"/>
            <a:ext cx="131652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Aptos"/>
              </a:rPr>
              <a:t>no target leakage</a:t>
            </a:r>
            <a:endParaRPr b="0" lang="en-GB" sz="850" spc="-1" strike="noStrike">
              <a:latin typeface="Arial"/>
            </a:endParaRPr>
          </a:p>
        </p:txBody>
      </p:sp>
      <p:sp>
        <p:nvSpPr>
          <p:cNvPr id="132" name="Shape 28"/>
          <p:cNvSpPr/>
          <p:nvPr/>
        </p:nvSpPr>
        <p:spPr>
          <a:xfrm>
            <a:off x="4251960" y="1143000"/>
            <a:ext cx="1737000" cy="310680"/>
          </a:xfrm>
          <a:prstGeom prst="roundRect">
            <a:avLst>
              <a:gd name="adj" fmla="val 23529"/>
            </a:avLst>
          </a:prstGeom>
          <a:solidFill>
            <a:srgbClr val="f59e0b">
              <a:alpha val="15000"/>
            </a:srgbClr>
          </a:solidFill>
          <a:ln w="10160">
            <a:solidFill>
              <a:srgbClr val="f59e0b">
                <a:alpha val="8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Text 29"/>
          <p:cNvSpPr/>
          <p:nvPr/>
        </p:nvSpPr>
        <p:spPr>
          <a:xfrm>
            <a:off x="4325040" y="1216080"/>
            <a:ext cx="159084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Aptos"/>
              </a:rPr>
              <a:t>multi-horizon targets</a:t>
            </a:r>
            <a:endParaRPr b="0" lang="en-GB" sz="850" spc="-1" strike="noStrike">
              <a:latin typeface="Arial"/>
            </a:endParaRPr>
          </a:p>
        </p:txBody>
      </p:sp>
      <p:sp>
        <p:nvSpPr>
          <p:cNvPr id="134" name="Text 30"/>
          <p:cNvSpPr/>
          <p:nvPr/>
        </p:nvSpPr>
        <p:spPr>
          <a:xfrm>
            <a:off x="11594520" y="6510600"/>
            <a:ext cx="273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80" spc="-1" strike="noStrike">
                <a:solidFill>
                  <a:srgbClr val="6c809b"/>
                </a:solidFill>
                <a:latin typeface="Aptos"/>
              </a:rPr>
              <a:t>05</a:t>
            </a:r>
            <a:endParaRPr b="0" lang="en-GB" sz="78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Text 1"/>
          <p:cNvSpPr/>
          <p:nvPr/>
        </p:nvSpPr>
        <p:spPr>
          <a:xfrm>
            <a:off x="502920" y="320040"/>
            <a:ext cx="6949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Aptos Display"/>
                <a:ea typeface="Aptos Display"/>
              </a:rPr>
              <a:t>Baseline model</a:t>
            </a:r>
            <a:endParaRPr b="0" lang="en-GB" sz="2400" spc="-1" strike="noStrike">
              <a:latin typeface="Arial"/>
            </a:endParaRPr>
          </a:p>
        </p:txBody>
      </p:sp>
      <p:sp>
        <p:nvSpPr>
          <p:cNvPr id="137" name="Text 2"/>
          <p:cNvSpPr/>
          <p:nvPr/>
        </p:nvSpPr>
        <p:spPr>
          <a:xfrm>
            <a:off x="521280" y="78624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a9bdd5"/>
                </a:solidFill>
                <a:latin typeface="Aptos"/>
              </a:rPr>
              <a:t>A meaningful baseline must include the no-trade alternative</a:t>
            </a:r>
            <a:endParaRPr b="0" lang="en-GB" sz="980" spc="-1" strike="noStrike">
              <a:latin typeface="Arial"/>
            </a:endParaRPr>
          </a:p>
        </p:txBody>
      </p:sp>
      <p:sp>
        <p:nvSpPr>
          <p:cNvPr id="138" name="Text 3"/>
          <p:cNvSpPr/>
          <p:nvPr/>
        </p:nvSpPr>
        <p:spPr>
          <a:xfrm>
            <a:off x="8732520" y="42984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20" spc="-1" strike="noStrike">
                <a:solidFill>
                  <a:srgbClr val="7da7cc"/>
                </a:solidFill>
                <a:latin typeface="Aptos"/>
              </a:rPr>
              <a:t>BTCUSDT 15m · no final test access</a:t>
            </a:r>
            <a:endParaRPr b="0" lang="en-GB" sz="820" spc="-1" strike="noStrike">
              <a:latin typeface="Arial"/>
            </a:endParaRPr>
          </a:p>
        </p:txBody>
      </p:sp>
      <p:sp>
        <p:nvSpPr>
          <p:cNvPr id="139" name="Shape 4"/>
          <p:cNvSpPr/>
          <p:nvPr/>
        </p:nvSpPr>
        <p:spPr>
          <a:xfrm>
            <a:off x="502920" y="1078920"/>
            <a:ext cx="11201400" cy="360"/>
          </a:xfrm>
          <a:prstGeom prst="line">
            <a:avLst/>
          </a:prstGeom>
          <a:ln w="12700">
            <a:solidFill>
              <a:srgbClr val="2b47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0" name="Shape 5"/>
          <p:cNvSpPr/>
          <p:nvPr/>
        </p:nvSpPr>
        <p:spPr>
          <a:xfrm>
            <a:off x="731520" y="1325880"/>
            <a:ext cx="3245760" cy="1874160"/>
          </a:xfrm>
          <a:prstGeom prst="roundRect">
            <a:avLst>
              <a:gd name="adj" fmla="val 3902"/>
            </a:avLst>
          </a:prstGeom>
          <a:solidFill>
            <a:srgbClr val="101c31"/>
          </a:solidFill>
          <a:ln w="12700">
            <a:solidFill>
              <a:srgbClr val="2b47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1" name="Shape 6"/>
          <p:cNvSpPr/>
          <p:nvPr/>
        </p:nvSpPr>
        <p:spPr>
          <a:xfrm>
            <a:off x="731520" y="1325880"/>
            <a:ext cx="54360" cy="1874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2" name="Text 7"/>
          <p:cNvSpPr/>
          <p:nvPr/>
        </p:nvSpPr>
        <p:spPr>
          <a:xfrm>
            <a:off x="896040" y="1463040"/>
            <a:ext cx="2971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Aptos"/>
              </a:rPr>
              <a:t>No Trade</a:t>
            </a:r>
            <a:endParaRPr b="0" lang="en-GB" sz="1300" spc="-1" strike="noStrike">
              <a:latin typeface="Arial"/>
            </a:endParaRPr>
          </a:p>
        </p:txBody>
      </p:sp>
      <p:sp>
        <p:nvSpPr>
          <p:cNvPr id="143" name="Text 8"/>
          <p:cNvSpPr/>
          <p:nvPr/>
        </p:nvSpPr>
        <p:spPr>
          <a:xfrm>
            <a:off x="896040" y="1801440"/>
            <a:ext cx="2971440" cy="125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a9bdd5"/>
                </a:solidFill>
                <a:latin typeface="Aptos"/>
              </a:rPr>
              <a:t>Economic reference: zero trades, zero costs, zero return. Any candidate must beat inactivity after costs.</a:t>
            </a:r>
            <a:endParaRPr b="0" lang="en-GB" sz="1050" spc="-1" strike="noStrike">
              <a:latin typeface="Arial"/>
            </a:endParaRPr>
          </a:p>
        </p:txBody>
      </p:sp>
      <p:sp>
        <p:nvSpPr>
          <p:cNvPr id="144" name="Shape 9"/>
          <p:cNvSpPr/>
          <p:nvPr/>
        </p:nvSpPr>
        <p:spPr>
          <a:xfrm>
            <a:off x="4480560" y="1325880"/>
            <a:ext cx="3245760" cy="1874160"/>
          </a:xfrm>
          <a:prstGeom prst="roundRect">
            <a:avLst>
              <a:gd name="adj" fmla="val 3902"/>
            </a:avLst>
          </a:prstGeom>
          <a:solidFill>
            <a:srgbClr val="101c31"/>
          </a:solidFill>
          <a:ln w="12700">
            <a:solidFill>
              <a:srgbClr val="2b47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5" name="Shape 10"/>
          <p:cNvSpPr/>
          <p:nvPr/>
        </p:nvSpPr>
        <p:spPr>
          <a:xfrm>
            <a:off x="4480560" y="1325880"/>
            <a:ext cx="54360" cy="18741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6" name="Text 11"/>
          <p:cNvSpPr/>
          <p:nvPr/>
        </p:nvSpPr>
        <p:spPr>
          <a:xfrm>
            <a:off x="4645080" y="1463040"/>
            <a:ext cx="2971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Aptos"/>
              </a:rPr>
              <a:t>50/50 Direction</a:t>
            </a:r>
            <a:endParaRPr b="0" lang="en-GB" sz="1300" spc="-1" strike="noStrike">
              <a:latin typeface="Arial"/>
            </a:endParaRPr>
          </a:p>
        </p:txBody>
      </p:sp>
      <p:sp>
        <p:nvSpPr>
          <p:cNvPr id="147" name="Text 12"/>
          <p:cNvSpPr/>
          <p:nvPr/>
        </p:nvSpPr>
        <p:spPr>
          <a:xfrm>
            <a:off x="4645080" y="1801440"/>
            <a:ext cx="2971440" cy="125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a9bdd5"/>
                </a:solidFill>
                <a:latin typeface="Aptos"/>
              </a:rPr>
              <a:t>Statistical reference for a hard binary forecasting task. CV log loss near 0.693 is close to random.</a:t>
            </a:r>
            <a:endParaRPr b="0" lang="en-GB" sz="1050" spc="-1" strike="noStrike">
              <a:latin typeface="Arial"/>
            </a:endParaRPr>
          </a:p>
        </p:txBody>
      </p:sp>
      <p:sp>
        <p:nvSpPr>
          <p:cNvPr id="148" name="Shape 13"/>
          <p:cNvSpPr/>
          <p:nvPr/>
        </p:nvSpPr>
        <p:spPr>
          <a:xfrm>
            <a:off x="8229600" y="1325880"/>
            <a:ext cx="3245760" cy="1874160"/>
          </a:xfrm>
          <a:prstGeom prst="roundRect">
            <a:avLst>
              <a:gd name="adj" fmla="val 3902"/>
            </a:avLst>
          </a:prstGeom>
          <a:solidFill>
            <a:srgbClr val="101c31"/>
          </a:solidFill>
          <a:ln w="12700">
            <a:solidFill>
              <a:srgbClr val="2b47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9" name="Shape 14"/>
          <p:cNvSpPr/>
          <p:nvPr/>
        </p:nvSpPr>
        <p:spPr>
          <a:xfrm>
            <a:off x="8229600" y="1325880"/>
            <a:ext cx="54360" cy="1874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0" name="Text 15"/>
          <p:cNvSpPr/>
          <p:nvPr/>
        </p:nvSpPr>
        <p:spPr>
          <a:xfrm>
            <a:off x="8394120" y="1463040"/>
            <a:ext cx="2971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Aptos"/>
              </a:rPr>
              <a:t>Naive Trading</a:t>
            </a:r>
            <a:endParaRPr b="0" lang="en-GB" sz="1300" spc="-1" strike="noStrike">
              <a:latin typeface="Arial"/>
            </a:endParaRPr>
          </a:p>
        </p:txBody>
      </p:sp>
      <p:sp>
        <p:nvSpPr>
          <p:cNvPr id="151" name="Text 16"/>
          <p:cNvSpPr/>
          <p:nvPr/>
        </p:nvSpPr>
        <p:spPr>
          <a:xfrm>
            <a:off x="8394120" y="1801440"/>
            <a:ext cx="2971440" cy="125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a9bdd5"/>
                </a:solidFill>
                <a:latin typeface="Aptos"/>
              </a:rPr>
              <a:t>Always trading is rejected as a deployment baseline because it ignores fees, spread and slippage.</a:t>
            </a:r>
            <a:endParaRPr b="0" lang="en-GB" sz="1050" spc="-1" strike="noStrike">
              <a:latin typeface="Arial"/>
            </a:endParaRPr>
          </a:p>
        </p:txBody>
      </p:sp>
      <p:sp>
        <p:nvSpPr>
          <p:cNvPr id="152" name="Text 17"/>
          <p:cNvSpPr/>
          <p:nvPr/>
        </p:nvSpPr>
        <p:spPr>
          <a:xfrm>
            <a:off x="777240" y="3703320"/>
            <a:ext cx="10606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Aptos"/>
              </a:rPr>
              <a:t>Baseline logic used in this project</a:t>
            </a:r>
            <a:endParaRPr b="0" lang="en-GB" sz="1800" spc="-1" strike="noStrike">
              <a:latin typeface="Arial"/>
            </a:endParaRPr>
          </a:p>
        </p:txBody>
      </p:sp>
      <p:graphicFrame>
        <p:nvGraphicFramePr>
          <p:cNvPr id="153" name="Table 0"/>
          <p:cNvGraphicFramePr/>
          <p:nvPr/>
        </p:nvGraphicFramePr>
        <p:xfrm>
          <a:off x="2057400" y="4224600"/>
          <a:ext cx="8092080" cy="1325520"/>
        </p:xfrm>
        <a:graphic>
          <a:graphicData uri="http://schemas.openxmlformats.org/drawingml/2006/table">
            <a:tbl>
              <a:tblPr/>
              <a:tblGrid>
                <a:gridCol w="2926080"/>
                <a:gridCol w="5166360"/>
              </a:tblGrid>
              <a:tr h="331200"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96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Criterion</a:t>
                      </a:r>
                      <a:endParaRPr b="0" lang="en-GB" sz="960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72a46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96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Required implication</a:t>
                      </a:r>
                      <a:endParaRPr b="0" lang="en-GB" sz="960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72a46"/>
                    </a:solidFill>
                  </a:tcPr>
                </a:tc>
              </a:tr>
              <a:tr h="331200"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6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Statistical performance</a:t>
                      </a:r>
                      <a:endParaRPr b="0" lang="en-GB" sz="960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6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must improve on simple probability baselines</a:t>
                      </a:r>
                      <a:endParaRPr b="0" lang="en-GB" sz="960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11d33"/>
                    </a:solidFill>
                  </a:tcPr>
                </a:tc>
              </a:tr>
              <a:tr h="331200"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6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Economic performance</a:t>
                      </a:r>
                      <a:endParaRPr b="0" lang="en-GB" sz="960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6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must remain positive after round-trip costs</a:t>
                      </a:r>
                      <a:endParaRPr b="0" lang="en-GB" sz="960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11d33"/>
                    </a:solidFill>
                  </a:tcPr>
                </a:tc>
              </a:tr>
              <a:tr h="331920"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6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Robustness</a:t>
                      </a:r>
                      <a:endParaRPr b="0" lang="en-GB" sz="960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6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must work across folds, not only in one period</a:t>
                      </a:r>
                      <a:endParaRPr b="0" lang="en-GB" sz="960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11d33"/>
                    </a:solidFill>
                  </a:tcPr>
                </a:tc>
              </a:tr>
            </a:tbl>
          </a:graphicData>
        </a:graphic>
      </p:graphicFrame>
      <p:sp>
        <p:nvSpPr>
          <p:cNvPr id="154" name="Text 18"/>
          <p:cNvSpPr/>
          <p:nvPr/>
        </p:nvSpPr>
        <p:spPr>
          <a:xfrm>
            <a:off x="11594520" y="6510600"/>
            <a:ext cx="273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80" spc="-1" strike="noStrike">
                <a:solidFill>
                  <a:srgbClr val="6c809b"/>
                </a:solidFill>
                <a:latin typeface="Aptos"/>
              </a:rPr>
              <a:t>06</a:t>
            </a:r>
            <a:endParaRPr b="0" lang="en-GB" sz="78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6" name="Text 1"/>
          <p:cNvSpPr/>
          <p:nvPr/>
        </p:nvSpPr>
        <p:spPr>
          <a:xfrm>
            <a:off x="502920" y="320040"/>
            <a:ext cx="6949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Aptos Display"/>
                <a:ea typeface="Aptos Display"/>
              </a:rPr>
              <a:t>Model definition</a:t>
            </a:r>
            <a:endParaRPr b="0" lang="en-GB" sz="2400" spc="-1" strike="noStrike">
              <a:latin typeface="Arial"/>
            </a:endParaRPr>
          </a:p>
        </p:txBody>
      </p:sp>
      <p:sp>
        <p:nvSpPr>
          <p:cNvPr id="157" name="Text 2"/>
          <p:cNvSpPr/>
          <p:nvPr/>
        </p:nvSpPr>
        <p:spPr>
          <a:xfrm>
            <a:off x="521280" y="78624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a9bdd5"/>
                </a:solidFill>
                <a:latin typeface="Aptos"/>
              </a:rPr>
              <a:t>Tree ensembles with calibrated probabilities and horizon-specific targets</a:t>
            </a:r>
            <a:endParaRPr b="0" lang="en-GB" sz="980" spc="-1" strike="noStrike">
              <a:latin typeface="Arial"/>
            </a:endParaRPr>
          </a:p>
        </p:txBody>
      </p:sp>
      <p:sp>
        <p:nvSpPr>
          <p:cNvPr id="158" name="Text 3"/>
          <p:cNvSpPr/>
          <p:nvPr/>
        </p:nvSpPr>
        <p:spPr>
          <a:xfrm>
            <a:off x="8732520" y="42984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20" spc="-1" strike="noStrike">
                <a:solidFill>
                  <a:srgbClr val="7da7cc"/>
                </a:solidFill>
                <a:latin typeface="Aptos"/>
              </a:rPr>
              <a:t>BTCUSDT 15m · no final test access</a:t>
            </a:r>
            <a:endParaRPr b="0" lang="en-GB" sz="820" spc="-1" strike="noStrike">
              <a:latin typeface="Arial"/>
            </a:endParaRPr>
          </a:p>
        </p:txBody>
      </p:sp>
      <p:sp>
        <p:nvSpPr>
          <p:cNvPr id="159" name="Shape 4"/>
          <p:cNvSpPr/>
          <p:nvPr/>
        </p:nvSpPr>
        <p:spPr>
          <a:xfrm>
            <a:off x="502920" y="1078920"/>
            <a:ext cx="11201400" cy="360"/>
          </a:xfrm>
          <a:prstGeom prst="line">
            <a:avLst/>
          </a:prstGeom>
          <a:ln w="12700">
            <a:solidFill>
              <a:srgbClr val="2b47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0" name="Shape 5"/>
          <p:cNvSpPr/>
          <p:nvPr/>
        </p:nvSpPr>
        <p:spPr>
          <a:xfrm>
            <a:off x="947520" y="1417320"/>
            <a:ext cx="3071880" cy="1279800"/>
          </a:xfrm>
          <a:prstGeom prst="roundRect">
            <a:avLst>
              <a:gd name="adj" fmla="val 5714"/>
            </a:avLst>
          </a:prstGeom>
          <a:solidFill>
            <a:srgbClr val="101c31"/>
          </a:solidFill>
          <a:ln w="12700">
            <a:solidFill>
              <a:srgbClr val="2b47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1" name="Shape 6"/>
          <p:cNvSpPr/>
          <p:nvPr/>
        </p:nvSpPr>
        <p:spPr>
          <a:xfrm>
            <a:off x="947520" y="1417320"/>
            <a:ext cx="54360" cy="12798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2" name="Text 7"/>
          <p:cNvSpPr/>
          <p:nvPr/>
        </p:nvSpPr>
        <p:spPr>
          <a:xfrm>
            <a:off x="1148040" y="1554480"/>
            <a:ext cx="2559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Aptos"/>
              </a:rPr>
              <a:t>LightGBM</a:t>
            </a:r>
            <a:endParaRPr b="0" lang="en-GB" sz="1300" spc="-1" strike="noStrike">
              <a:latin typeface="Arial"/>
            </a:endParaRPr>
          </a:p>
        </p:txBody>
      </p:sp>
      <p:sp>
        <p:nvSpPr>
          <p:cNvPr id="163" name="Text 8"/>
          <p:cNvSpPr/>
          <p:nvPr/>
        </p:nvSpPr>
        <p:spPr>
          <a:xfrm>
            <a:off x="1148040" y="1892880"/>
            <a:ext cx="25599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a9bdd5"/>
                </a:solidFill>
                <a:latin typeface="Aptos"/>
              </a:rPr>
              <a:t>Gradient boosted trees for wide tabular feature matrices and efficient fold training.</a:t>
            </a:r>
            <a:endParaRPr b="0" lang="en-GB" sz="1050" spc="-1" strike="noStrike">
              <a:latin typeface="Arial"/>
            </a:endParaRPr>
          </a:p>
        </p:txBody>
      </p:sp>
      <p:sp>
        <p:nvSpPr>
          <p:cNvPr id="164" name="Shape 9"/>
          <p:cNvSpPr/>
          <p:nvPr/>
        </p:nvSpPr>
        <p:spPr>
          <a:xfrm>
            <a:off x="4257720" y="1417320"/>
            <a:ext cx="3012840" cy="1279800"/>
          </a:xfrm>
          <a:prstGeom prst="roundRect">
            <a:avLst>
              <a:gd name="adj" fmla="val 5714"/>
            </a:avLst>
          </a:prstGeom>
          <a:solidFill>
            <a:srgbClr val="101c31"/>
          </a:solidFill>
          <a:ln w="12700">
            <a:solidFill>
              <a:srgbClr val="2b47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5" name="Shape 10"/>
          <p:cNvSpPr/>
          <p:nvPr/>
        </p:nvSpPr>
        <p:spPr>
          <a:xfrm>
            <a:off x="4253040" y="1417320"/>
            <a:ext cx="54360" cy="12798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6" name="Text 11"/>
          <p:cNvSpPr/>
          <p:nvPr/>
        </p:nvSpPr>
        <p:spPr>
          <a:xfrm>
            <a:off x="4453560" y="1554480"/>
            <a:ext cx="2559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Aptos"/>
              </a:rPr>
              <a:t>CatBoost</a:t>
            </a:r>
            <a:endParaRPr b="0" lang="en-GB" sz="1300" spc="-1" strike="noStrike">
              <a:latin typeface="Arial"/>
            </a:endParaRPr>
          </a:p>
        </p:txBody>
      </p:sp>
      <p:sp>
        <p:nvSpPr>
          <p:cNvPr id="167" name="Text 12"/>
          <p:cNvSpPr/>
          <p:nvPr/>
        </p:nvSpPr>
        <p:spPr>
          <a:xfrm>
            <a:off x="4453560" y="1892880"/>
            <a:ext cx="25599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a9bdd5"/>
                </a:solidFill>
                <a:latin typeface="Aptos"/>
              </a:rPr>
              <a:t>Ordered boosting comparison for leakage-sensitive tabular classification.</a:t>
            </a:r>
            <a:endParaRPr b="0" lang="en-GB" sz="1050" spc="-1" strike="noStrike">
              <a:latin typeface="Arial"/>
            </a:endParaRPr>
          </a:p>
        </p:txBody>
      </p:sp>
      <p:sp>
        <p:nvSpPr>
          <p:cNvPr id="168" name="Shape 13"/>
          <p:cNvSpPr/>
          <p:nvPr/>
        </p:nvSpPr>
        <p:spPr>
          <a:xfrm>
            <a:off x="7486560" y="1417320"/>
            <a:ext cx="3241440" cy="1279800"/>
          </a:xfrm>
          <a:prstGeom prst="roundRect">
            <a:avLst>
              <a:gd name="adj" fmla="val 5714"/>
            </a:avLst>
          </a:prstGeom>
          <a:solidFill>
            <a:srgbClr val="101c31"/>
          </a:solidFill>
          <a:ln w="12700">
            <a:solidFill>
              <a:srgbClr val="2b47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9" name="Shape 14"/>
          <p:cNvSpPr/>
          <p:nvPr/>
        </p:nvSpPr>
        <p:spPr>
          <a:xfrm>
            <a:off x="7486560" y="1417320"/>
            <a:ext cx="54360" cy="12798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0" name="Text 15"/>
          <p:cNvSpPr/>
          <p:nvPr/>
        </p:nvSpPr>
        <p:spPr>
          <a:xfrm>
            <a:off x="7723080" y="1554480"/>
            <a:ext cx="2559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Aptos"/>
              </a:rPr>
              <a:t>Calibration</a:t>
            </a:r>
            <a:endParaRPr b="0" lang="en-GB" sz="1300" spc="-1" strike="noStrike">
              <a:latin typeface="Arial"/>
            </a:endParaRPr>
          </a:p>
        </p:txBody>
      </p:sp>
      <p:sp>
        <p:nvSpPr>
          <p:cNvPr id="171" name="Text 16"/>
          <p:cNvSpPr/>
          <p:nvPr/>
        </p:nvSpPr>
        <p:spPr>
          <a:xfrm>
            <a:off x="7723080" y="1892880"/>
            <a:ext cx="25599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a9bdd5"/>
                </a:solidFill>
                <a:latin typeface="Aptos"/>
              </a:rPr>
              <a:t>Raw and sigmoid probabilities were evaluated before threshold optimization.</a:t>
            </a:r>
            <a:endParaRPr b="0" lang="en-GB" sz="1050" spc="-1" strike="noStrike">
              <a:latin typeface="Arial"/>
            </a:endParaRPr>
          </a:p>
        </p:txBody>
      </p:sp>
      <p:sp>
        <p:nvSpPr>
          <p:cNvPr id="172" name="Shape 17"/>
          <p:cNvSpPr/>
          <p:nvPr/>
        </p:nvSpPr>
        <p:spPr>
          <a:xfrm>
            <a:off x="914400" y="3657600"/>
            <a:ext cx="1599840" cy="712800"/>
          </a:xfrm>
          <a:prstGeom prst="roundRect">
            <a:avLst>
              <a:gd name="adj" fmla="val 8974"/>
            </a:avLst>
          </a:prstGeom>
          <a:solidFill>
            <a:srgbClr val="172a46"/>
          </a:solidFill>
          <a:ln w="12700">
            <a:solidFill>
              <a:srgbClr val="2b47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3" name="Text 18"/>
          <p:cNvSpPr/>
          <p:nvPr/>
        </p:nvSpPr>
        <p:spPr>
          <a:xfrm>
            <a:off x="960120" y="3794760"/>
            <a:ext cx="15084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ptos"/>
              </a:rPr>
              <a:t>Features</a:t>
            </a:r>
            <a:endParaRPr b="0" lang="en-GB" sz="1100" spc="-1" strike="noStrike">
              <a:latin typeface="Arial"/>
            </a:endParaRPr>
          </a:p>
        </p:txBody>
      </p:sp>
      <p:sp>
        <p:nvSpPr>
          <p:cNvPr id="174" name="Text 19"/>
          <p:cNvSpPr/>
          <p:nvPr/>
        </p:nvSpPr>
        <p:spPr>
          <a:xfrm>
            <a:off x="960120" y="4050720"/>
            <a:ext cx="15084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a9bdd5"/>
                </a:solidFill>
                <a:latin typeface="Aptos"/>
              </a:rPr>
              <a:t>333 predictors</a:t>
            </a:r>
            <a:endParaRPr b="0" lang="en-GB" sz="800" spc="-1" strike="noStrike">
              <a:latin typeface="Arial"/>
            </a:endParaRPr>
          </a:p>
        </p:txBody>
      </p:sp>
      <p:sp>
        <p:nvSpPr>
          <p:cNvPr id="175" name="Shape 20"/>
          <p:cNvSpPr/>
          <p:nvPr/>
        </p:nvSpPr>
        <p:spPr>
          <a:xfrm>
            <a:off x="2633400" y="3840480"/>
            <a:ext cx="319680" cy="292320"/>
          </a:xfrm>
          <a:prstGeom prst="chevron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6" name="Shape 21"/>
          <p:cNvSpPr/>
          <p:nvPr/>
        </p:nvSpPr>
        <p:spPr>
          <a:xfrm>
            <a:off x="3063240" y="3657600"/>
            <a:ext cx="1599840" cy="712800"/>
          </a:xfrm>
          <a:prstGeom prst="roundRect">
            <a:avLst>
              <a:gd name="adj" fmla="val 8974"/>
            </a:avLst>
          </a:prstGeom>
          <a:solidFill>
            <a:srgbClr val="172a46"/>
          </a:solidFill>
          <a:ln w="12700">
            <a:solidFill>
              <a:srgbClr val="2b47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7" name="Text 22"/>
          <p:cNvSpPr/>
          <p:nvPr/>
        </p:nvSpPr>
        <p:spPr>
          <a:xfrm>
            <a:off x="3108960" y="3794760"/>
            <a:ext cx="15084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ptos"/>
              </a:rPr>
              <a:t>Classifier</a:t>
            </a:r>
            <a:endParaRPr b="0" lang="en-GB" sz="1100" spc="-1" strike="noStrike">
              <a:latin typeface="Arial"/>
            </a:endParaRPr>
          </a:p>
        </p:txBody>
      </p:sp>
      <p:sp>
        <p:nvSpPr>
          <p:cNvPr id="178" name="Text 23"/>
          <p:cNvSpPr/>
          <p:nvPr/>
        </p:nvSpPr>
        <p:spPr>
          <a:xfrm>
            <a:off x="3108960" y="4050720"/>
            <a:ext cx="15084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a9bdd5"/>
                </a:solidFill>
                <a:latin typeface="Aptos"/>
              </a:rPr>
              <a:t>P(up)</a:t>
            </a:r>
            <a:endParaRPr b="0" lang="en-GB" sz="800" spc="-1" strike="noStrike">
              <a:latin typeface="Arial"/>
            </a:endParaRPr>
          </a:p>
        </p:txBody>
      </p:sp>
      <p:sp>
        <p:nvSpPr>
          <p:cNvPr id="179" name="Shape 24"/>
          <p:cNvSpPr/>
          <p:nvPr/>
        </p:nvSpPr>
        <p:spPr>
          <a:xfrm>
            <a:off x="4782240" y="3840480"/>
            <a:ext cx="319680" cy="292320"/>
          </a:xfrm>
          <a:prstGeom prst="chevron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0" name="Shape 25"/>
          <p:cNvSpPr/>
          <p:nvPr/>
        </p:nvSpPr>
        <p:spPr>
          <a:xfrm>
            <a:off x="5212080" y="3657600"/>
            <a:ext cx="1599840" cy="712800"/>
          </a:xfrm>
          <a:prstGeom prst="roundRect">
            <a:avLst>
              <a:gd name="adj" fmla="val 8974"/>
            </a:avLst>
          </a:prstGeom>
          <a:solidFill>
            <a:srgbClr val="172a46"/>
          </a:solidFill>
          <a:ln w="12700">
            <a:solidFill>
              <a:srgbClr val="2b47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1" name="Text 26"/>
          <p:cNvSpPr/>
          <p:nvPr/>
        </p:nvSpPr>
        <p:spPr>
          <a:xfrm>
            <a:off x="5257800" y="3794760"/>
            <a:ext cx="15084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ptos"/>
              </a:rPr>
              <a:t>Calibration</a:t>
            </a:r>
            <a:endParaRPr b="0" lang="en-GB" sz="1100" spc="-1" strike="noStrike">
              <a:latin typeface="Arial"/>
            </a:endParaRPr>
          </a:p>
        </p:txBody>
      </p:sp>
      <p:sp>
        <p:nvSpPr>
          <p:cNvPr id="182" name="Text 27"/>
          <p:cNvSpPr/>
          <p:nvPr/>
        </p:nvSpPr>
        <p:spPr>
          <a:xfrm>
            <a:off x="5257800" y="4050720"/>
            <a:ext cx="15084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a9bdd5"/>
                </a:solidFill>
                <a:latin typeface="Aptos"/>
              </a:rPr>
              <a:t>raw / sigmoid</a:t>
            </a:r>
            <a:endParaRPr b="0" lang="en-GB" sz="800" spc="-1" strike="noStrike">
              <a:latin typeface="Arial"/>
            </a:endParaRPr>
          </a:p>
        </p:txBody>
      </p:sp>
      <p:sp>
        <p:nvSpPr>
          <p:cNvPr id="183" name="Shape 28"/>
          <p:cNvSpPr/>
          <p:nvPr/>
        </p:nvSpPr>
        <p:spPr>
          <a:xfrm>
            <a:off x="6931080" y="3840480"/>
            <a:ext cx="319680" cy="292320"/>
          </a:xfrm>
          <a:prstGeom prst="chevron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4" name="Shape 29"/>
          <p:cNvSpPr/>
          <p:nvPr/>
        </p:nvSpPr>
        <p:spPr>
          <a:xfrm>
            <a:off x="7360920" y="3657600"/>
            <a:ext cx="1599840" cy="712800"/>
          </a:xfrm>
          <a:prstGeom prst="roundRect">
            <a:avLst>
              <a:gd name="adj" fmla="val 8974"/>
            </a:avLst>
          </a:prstGeom>
          <a:solidFill>
            <a:srgbClr val="172a46"/>
          </a:solidFill>
          <a:ln w="12700">
            <a:solidFill>
              <a:srgbClr val="2b47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5" name="Text 30"/>
          <p:cNvSpPr/>
          <p:nvPr/>
        </p:nvSpPr>
        <p:spPr>
          <a:xfrm>
            <a:off x="7406640" y="3794760"/>
            <a:ext cx="15084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ptos"/>
              </a:rPr>
              <a:t>Threshold</a:t>
            </a:r>
            <a:endParaRPr b="0" lang="en-GB" sz="1100" spc="-1" strike="noStrike">
              <a:latin typeface="Arial"/>
            </a:endParaRPr>
          </a:p>
        </p:txBody>
      </p:sp>
      <p:sp>
        <p:nvSpPr>
          <p:cNvPr id="186" name="Text 31"/>
          <p:cNvSpPr/>
          <p:nvPr/>
        </p:nvSpPr>
        <p:spPr>
          <a:xfrm>
            <a:off x="7406640" y="4050720"/>
            <a:ext cx="15084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a9bdd5"/>
                </a:solidFill>
                <a:latin typeface="Aptos"/>
              </a:rPr>
              <a:t>candidate rules</a:t>
            </a:r>
            <a:endParaRPr b="0" lang="en-GB" sz="800" spc="-1" strike="noStrike">
              <a:latin typeface="Arial"/>
            </a:endParaRPr>
          </a:p>
        </p:txBody>
      </p:sp>
      <p:sp>
        <p:nvSpPr>
          <p:cNvPr id="187" name="Shape 32"/>
          <p:cNvSpPr/>
          <p:nvPr/>
        </p:nvSpPr>
        <p:spPr>
          <a:xfrm>
            <a:off x="9079920" y="3840480"/>
            <a:ext cx="319680" cy="292320"/>
          </a:xfrm>
          <a:prstGeom prst="chevron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8" name="Shape 33"/>
          <p:cNvSpPr/>
          <p:nvPr/>
        </p:nvSpPr>
        <p:spPr>
          <a:xfrm>
            <a:off x="9509760" y="3657600"/>
            <a:ext cx="1599840" cy="712800"/>
          </a:xfrm>
          <a:prstGeom prst="roundRect">
            <a:avLst>
              <a:gd name="adj" fmla="val 8974"/>
            </a:avLst>
          </a:prstGeom>
          <a:solidFill>
            <a:srgbClr val="172a46"/>
          </a:solidFill>
          <a:ln w="12700">
            <a:solidFill>
              <a:srgbClr val="2b47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9" name="Text 34"/>
          <p:cNvSpPr/>
          <p:nvPr/>
        </p:nvSpPr>
        <p:spPr>
          <a:xfrm>
            <a:off x="9555480" y="3794760"/>
            <a:ext cx="15084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ptos"/>
              </a:rPr>
              <a:t>Gate</a:t>
            </a:r>
            <a:endParaRPr b="0" lang="en-GB" sz="1100" spc="-1" strike="noStrike">
              <a:latin typeface="Arial"/>
            </a:endParaRPr>
          </a:p>
        </p:txBody>
      </p:sp>
      <p:sp>
        <p:nvSpPr>
          <p:cNvPr id="190" name="Text 35"/>
          <p:cNvSpPr/>
          <p:nvPr/>
        </p:nvSpPr>
        <p:spPr>
          <a:xfrm>
            <a:off x="9555480" y="4050720"/>
            <a:ext cx="15084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a9bdd5"/>
                </a:solidFill>
                <a:latin typeface="Aptos"/>
              </a:rPr>
              <a:t>No Trade or reject</a:t>
            </a:r>
            <a:endParaRPr b="0" lang="en-GB" sz="800" spc="-1" strike="noStrike">
              <a:latin typeface="Arial"/>
            </a:endParaRPr>
          </a:p>
        </p:txBody>
      </p:sp>
      <p:sp>
        <p:nvSpPr>
          <p:cNvPr id="191" name="Text 36"/>
          <p:cNvSpPr/>
          <p:nvPr/>
        </p:nvSpPr>
        <p:spPr>
          <a:xfrm>
            <a:off x="1051560" y="5166360"/>
            <a:ext cx="98751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59e0b"/>
                </a:solidFill>
                <a:latin typeface="Aptos"/>
              </a:rPr>
              <a:t>Important separation: model training, calibration, threshold selection and economic approval are separate stages.</a:t>
            </a:r>
            <a:endParaRPr b="0" lang="en-GB" sz="1500" spc="-1" strike="noStrike">
              <a:latin typeface="Arial"/>
            </a:endParaRPr>
          </a:p>
        </p:txBody>
      </p:sp>
      <p:sp>
        <p:nvSpPr>
          <p:cNvPr id="192" name="Text 37"/>
          <p:cNvSpPr/>
          <p:nvPr/>
        </p:nvSpPr>
        <p:spPr>
          <a:xfrm>
            <a:off x="11594520" y="6510600"/>
            <a:ext cx="273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80" spc="-1" strike="noStrike">
                <a:solidFill>
                  <a:srgbClr val="6c809b"/>
                </a:solidFill>
                <a:latin typeface="Aptos"/>
              </a:rPr>
              <a:t>07</a:t>
            </a:r>
            <a:endParaRPr b="0" lang="en-GB" sz="78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4" name="Text 1"/>
          <p:cNvSpPr/>
          <p:nvPr/>
        </p:nvSpPr>
        <p:spPr>
          <a:xfrm>
            <a:off x="502920" y="320040"/>
            <a:ext cx="6949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Aptos Display"/>
                <a:ea typeface="Aptos Display"/>
              </a:rPr>
              <a:t>Model implementation</a:t>
            </a:r>
            <a:endParaRPr b="0" lang="en-GB" sz="2400" spc="-1" strike="noStrike">
              <a:latin typeface="Arial"/>
            </a:endParaRPr>
          </a:p>
        </p:txBody>
      </p:sp>
      <p:sp>
        <p:nvSpPr>
          <p:cNvPr id="195" name="Text 2"/>
          <p:cNvSpPr/>
          <p:nvPr/>
        </p:nvSpPr>
        <p:spPr>
          <a:xfrm>
            <a:off x="521280" y="78624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a9bdd5"/>
                </a:solidFill>
                <a:latin typeface="Aptos"/>
              </a:rPr>
              <a:t>Code path and reproducibility</a:t>
            </a:r>
            <a:endParaRPr b="0" lang="en-GB" sz="980" spc="-1" strike="noStrike">
              <a:latin typeface="Arial"/>
            </a:endParaRPr>
          </a:p>
        </p:txBody>
      </p:sp>
      <p:sp>
        <p:nvSpPr>
          <p:cNvPr id="196" name="Text 3"/>
          <p:cNvSpPr/>
          <p:nvPr/>
        </p:nvSpPr>
        <p:spPr>
          <a:xfrm>
            <a:off x="8732520" y="42984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20" spc="-1" strike="noStrike">
                <a:solidFill>
                  <a:srgbClr val="7da7cc"/>
                </a:solidFill>
                <a:latin typeface="Aptos"/>
              </a:rPr>
              <a:t>BTCUSDT 15m · no final test access</a:t>
            </a:r>
            <a:endParaRPr b="0" lang="en-GB" sz="820" spc="-1" strike="noStrike">
              <a:latin typeface="Arial"/>
            </a:endParaRPr>
          </a:p>
        </p:txBody>
      </p:sp>
      <p:sp>
        <p:nvSpPr>
          <p:cNvPr id="197" name="Shape 4"/>
          <p:cNvSpPr/>
          <p:nvPr/>
        </p:nvSpPr>
        <p:spPr>
          <a:xfrm>
            <a:off x="502920" y="1078920"/>
            <a:ext cx="11201400" cy="360"/>
          </a:xfrm>
          <a:prstGeom prst="line">
            <a:avLst/>
          </a:prstGeom>
          <a:ln w="12700">
            <a:solidFill>
              <a:srgbClr val="2b47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8" name="Text 17"/>
          <p:cNvSpPr/>
          <p:nvPr/>
        </p:nvSpPr>
        <p:spPr>
          <a:xfrm>
            <a:off x="11594520" y="6510600"/>
            <a:ext cx="273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80" spc="-1" strike="noStrike">
                <a:solidFill>
                  <a:srgbClr val="6c809b"/>
                </a:solidFill>
                <a:latin typeface="Aptos"/>
              </a:rPr>
              <a:t>08</a:t>
            </a:r>
            <a:endParaRPr b="0" lang="en-GB" sz="780" spc="-1" strike="noStrike">
              <a:latin typeface="Arial"/>
            </a:endParaRPr>
          </a:p>
        </p:txBody>
      </p:sp>
      <p:pic>
        <p:nvPicPr>
          <p:cNvPr id="199" name="Picture 20" descr="model_definition_code.png"/>
          <p:cNvPicPr/>
          <p:nvPr/>
        </p:nvPicPr>
        <p:blipFill>
          <a:blip r:embed="rId1"/>
          <a:stretch/>
        </p:blipFill>
        <p:spPr>
          <a:xfrm>
            <a:off x="517320" y="1185120"/>
            <a:ext cx="11182680" cy="4754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1" name="Text 1"/>
          <p:cNvSpPr/>
          <p:nvPr/>
        </p:nvSpPr>
        <p:spPr>
          <a:xfrm>
            <a:off x="502920" y="320040"/>
            <a:ext cx="6949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Aptos Display"/>
                <a:ea typeface="Aptos Display"/>
              </a:rPr>
              <a:t>Model evaluation</a:t>
            </a:r>
            <a:endParaRPr b="0" lang="en-GB" sz="2400" spc="-1" strike="noStrike">
              <a:latin typeface="Arial"/>
            </a:endParaRPr>
          </a:p>
        </p:txBody>
      </p:sp>
      <p:sp>
        <p:nvSpPr>
          <p:cNvPr id="202" name="Text 2"/>
          <p:cNvSpPr/>
          <p:nvPr/>
        </p:nvSpPr>
        <p:spPr>
          <a:xfrm>
            <a:off x="521280" y="78624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a9bdd5"/>
                </a:solidFill>
                <a:latin typeface="Aptos"/>
              </a:rPr>
              <a:t>Temporal validation with purging, embargo and locked final test</a:t>
            </a:r>
            <a:endParaRPr b="0" lang="en-GB" sz="980" spc="-1" strike="noStrike">
              <a:latin typeface="Arial"/>
            </a:endParaRPr>
          </a:p>
        </p:txBody>
      </p:sp>
      <p:sp>
        <p:nvSpPr>
          <p:cNvPr id="203" name="Text 3"/>
          <p:cNvSpPr/>
          <p:nvPr/>
        </p:nvSpPr>
        <p:spPr>
          <a:xfrm>
            <a:off x="8732520" y="42984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20" spc="-1" strike="noStrike">
                <a:solidFill>
                  <a:srgbClr val="7da7cc"/>
                </a:solidFill>
                <a:latin typeface="Aptos"/>
              </a:rPr>
              <a:t>BTCUSDT 15m · no final test access</a:t>
            </a:r>
            <a:endParaRPr b="0" lang="en-GB" sz="820" spc="-1" strike="noStrike">
              <a:latin typeface="Arial"/>
            </a:endParaRPr>
          </a:p>
        </p:txBody>
      </p:sp>
      <p:sp>
        <p:nvSpPr>
          <p:cNvPr id="204" name="Shape 4"/>
          <p:cNvSpPr/>
          <p:nvPr/>
        </p:nvSpPr>
        <p:spPr>
          <a:xfrm>
            <a:off x="502920" y="1078920"/>
            <a:ext cx="11201400" cy="360"/>
          </a:xfrm>
          <a:prstGeom prst="line">
            <a:avLst/>
          </a:prstGeom>
          <a:ln w="12700">
            <a:solidFill>
              <a:srgbClr val="2b47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graphicFrame>
        <p:nvGraphicFramePr>
          <p:cNvPr id="205" name="Table 0"/>
          <p:cNvGraphicFramePr/>
          <p:nvPr/>
        </p:nvGraphicFramePr>
        <p:xfrm>
          <a:off x="8001000" y="1417320"/>
          <a:ext cx="3337200" cy="2194200"/>
        </p:xfrm>
        <a:graphic>
          <a:graphicData uri="http://schemas.openxmlformats.org/drawingml/2006/table">
            <a:tbl>
              <a:tblPr/>
              <a:tblGrid>
                <a:gridCol w="1234440"/>
                <a:gridCol w="2103120"/>
              </a:tblGrid>
              <a:tr h="438840"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88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Layer</a:t>
                      </a:r>
                      <a:endParaRPr b="0" lang="en-GB" sz="880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72a46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88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Purpose</a:t>
                      </a:r>
                      <a:endParaRPr b="0" lang="en-GB" sz="880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72a46"/>
                    </a:solidFill>
                  </a:tcPr>
                </a:tc>
              </a:tr>
              <a:tr h="438840"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88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Walk-forward CV</a:t>
                      </a:r>
                      <a:endParaRPr b="0" lang="en-GB" sz="880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88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model comparison and stability</a:t>
                      </a:r>
                      <a:endParaRPr b="0" lang="en-GB" sz="880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11d33"/>
                    </a:solidFill>
                  </a:tcPr>
                </a:tc>
              </a:tr>
              <a:tr h="438840"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88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Purging / embargo</a:t>
                      </a:r>
                      <a:endParaRPr b="0" lang="en-GB" sz="880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88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prevent target-window leakage</a:t>
                      </a:r>
                      <a:endParaRPr b="0" lang="en-GB" sz="880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11d33"/>
                    </a:solidFill>
                  </a:tcPr>
                </a:tc>
              </a:tr>
              <a:tr h="438840"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88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Holdout</a:t>
                      </a:r>
                      <a:endParaRPr b="0" lang="en-GB" sz="880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88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one-time confirmation only</a:t>
                      </a:r>
                      <a:endParaRPr b="0" lang="en-GB" sz="880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11d33"/>
                    </a:solidFill>
                  </a:tcPr>
                </a:tc>
              </a:tr>
              <a:tr h="438840"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88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Final test</a:t>
                      </a:r>
                      <a:endParaRPr b="0" lang="en-GB" sz="880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88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locked because no candidate passed the gate</a:t>
                      </a:r>
                      <a:endParaRPr b="0" lang="en-GB" sz="880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11d33"/>
                    </a:solidFill>
                  </a:tcPr>
                </a:tc>
              </a:tr>
            </a:tbl>
          </a:graphicData>
        </a:graphic>
      </p:graphicFrame>
      <p:sp>
        <p:nvSpPr>
          <p:cNvPr id="206" name="Shape 5"/>
          <p:cNvSpPr/>
          <p:nvPr/>
        </p:nvSpPr>
        <p:spPr>
          <a:xfrm>
            <a:off x="8001000" y="3977640"/>
            <a:ext cx="3337200" cy="1051200"/>
          </a:xfrm>
          <a:prstGeom prst="roundRect">
            <a:avLst>
              <a:gd name="adj" fmla="val 6957"/>
            </a:avLst>
          </a:prstGeom>
          <a:solidFill>
            <a:srgbClr val="101c31"/>
          </a:solidFill>
          <a:ln w="12700">
            <a:solidFill>
              <a:srgbClr val="2b47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7" name="Shape 6"/>
          <p:cNvSpPr/>
          <p:nvPr/>
        </p:nvSpPr>
        <p:spPr>
          <a:xfrm>
            <a:off x="8001000" y="3977640"/>
            <a:ext cx="54360" cy="1051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8" name="Text 7"/>
          <p:cNvSpPr/>
          <p:nvPr/>
        </p:nvSpPr>
        <p:spPr>
          <a:xfrm>
            <a:off x="8165520" y="4114800"/>
            <a:ext cx="3062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Aptos"/>
              </a:rPr>
              <a:t>Key rule</a:t>
            </a:r>
            <a:endParaRPr b="0" lang="en-GB" sz="1300" spc="-1" strike="noStrike">
              <a:latin typeface="Arial"/>
            </a:endParaRPr>
          </a:p>
        </p:txBody>
      </p:sp>
      <p:sp>
        <p:nvSpPr>
          <p:cNvPr id="209" name="Text 8"/>
          <p:cNvSpPr/>
          <p:nvPr/>
        </p:nvSpPr>
        <p:spPr>
          <a:xfrm>
            <a:off x="8165520" y="4453200"/>
            <a:ext cx="30628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94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a9bdd5"/>
                </a:solidFill>
                <a:latin typeface="Aptos"/>
              </a:rPr>
              <a:t>The final test cannot become another validation set. No approval → no final-test opening.</a:t>
            </a:r>
            <a:endParaRPr b="0" lang="en-GB" sz="1050" spc="-1" strike="noStrike">
              <a:latin typeface="Arial"/>
            </a:endParaRPr>
          </a:p>
        </p:txBody>
      </p:sp>
      <p:sp>
        <p:nvSpPr>
          <p:cNvPr id="210" name="Text 9"/>
          <p:cNvSpPr/>
          <p:nvPr/>
        </p:nvSpPr>
        <p:spPr>
          <a:xfrm>
            <a:off x="11594520" y="6510600"/>
            <a:ext cx="273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80" spc="-1" strike="noStrike">
                <a:solidFill>
                  <a:srgbClr val="6c809b"/>
                </a:solidFill>
                <a:latin typeface="Aptos"/>
              </a:rPr>
              <a:t>09</a:t>
            </a:r>
            <a:endParaRPr b="0" lang="en-GB" sz="780" spc="-1" strike="noStrike">
              <a:latin typeface="Arial"/>
            </a:endParaRPr>
          </a:p>
        </p:txBody>
      </p:sp>
      <p:pic>
        <p:nvPicPr>
          <p:cNvPr id="211" name="" descr=""/>
          <p:cNvPicPr/>
          <p:nvPr/>
        </p:nvPicPr>
        <p:blipFill>
          <a:blip r:embed="rId1"/>
          <a:stretch/>
        </p:blipFill>
        <p:spPr>
          <a:xfrm>
            <a:off x="540000" y="1263600"/>
            <a:ext cx="7200000" cy="4820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3" name="Text 1"/>
          <p:cNvSpPr/>
          <p:nvPr/>
        </p:nvSpPr>
        <p:spPr>
          <a:xfrm>
            <a:off x="502920" y="320040"/>
            <a:ext cx="6949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Aptos Display"/>
                <a:ea typeface="Aptos Display"/>
              </a:rPr>
              <a:t>Results: statistical model performance</a:t>
            </a:r>
            <a:endParaRPr b="0" lang="en-GB" sz="2400" spc="-1" strike="noStrike">
              <a:latin typeface="Arial"/>
            </a:endParaRPr>
          </a:p>
        </p:txBody>
      </p:sp>
      <p:sp>
        <p:nvSpPr>
          <p:cNvPr id="214" name="Text 2"/>
          <p:cNvSpPr/>
          <p:nvPr/>
        </p:nvSpPr>
        <p:spPr>
          <a:xfrm>
            <a:off x="521280" y="78624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a9bdd5"/>
                </a:solidFill>
                <a:latin typeface="Aptos"/>
              </a:rPr>
              <a:t>CV performance alone does not imply economic feasibility</a:t>
            </a:r>
            <a:endParaRPr b="0" lang="en-GB" sz="980" spc="-1" strike="noStrike">
              <a:latin typeface="Arial"/>
            </a:endParaRPr>
          </a:p>
        </p:txBody>
      </p:sp>
      <p:sp>
        <p:nvSpPr>
          <p:cNvPr id="215" name="Text 3"/>
          <p:cNvSpPr/>
          <p:nvPr/>
        </p:nvSpPr>
        <p:spPr>
          <a:xfrm>
            <a:off x="8732520" y="42984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20" spc="-1" strike="noStrike">
                <a:solidFill>
                  <a:srgbClr val="7da7cc"/>
                </a:solidFill>
                <a:latin typeface="Aptos"/>
              </a:rPr>
              <a:t>BTCUSDT 15m · no final test access</a:t>
            </a:r>
            <a:endParaRPr b="0" lang="en-GB" sz="820" spc="-1" strike="noStrike">
              <a:latin typeface="Arial"/>
            </a:endParaRPr>
          </a:p>
        </p:txBody>
      </p:sp>
      <p:sp>
        <p:nvSpPr>
          <p:cNvPr id="216" name="Shape 4"/>
          <p:cNvSpPr/>
          <p:nvPr/>
        </p:nvSpPr>
        <p:spPr>
          <a:xfrm>
            <a:off x="502920" y="1078920"/>
            <a:ext cx="11201400" cy="360"/>
          </a:xfrm>
          <a:prstGeom prst="line">
            <a:avLst/>
          </a:prstGeom>
          <a:ln w="12700">
            <a:solidFill>
              <a:srgbClr val="2b47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217" name="Image 0" descr="/mnt/data/btc_reworked_presentation/assets/figures/cv_log_loss_by_horizon.png"/>
          <p:cNvPicPr/>
          <p:nvPr/>
        </p:nvPicPr>
        <p:blipFill>
          <a:blip r:embed="rId1"/>
          <a:stretch/>
        </p:blipFill>
        <p:spPr>
          <a:xfrm>
            <a:off x="685800" y="1510560"/>
            <a:ext cx="5943240" cy="333396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218" name="Table 0"/>
          <p:cNvGraphicFramePr/>
          <p:nvPr/>
        </p:nvGraphicFramePr>
        <p:xfrm>
          <a:off x="6949440" y="1417320"/>
          <a:ext cx="4571640" cy="2011320"/>
        </p:xfrm>
        <a:graphic>
          <a:graphicData uri="http://schemas.openxmlformats.org/drawingml/2006/table">
            <a:tbl>
              <a:tblPr/>
              <a:tblGrid>
                <a:gridCol w="731520"/>
                <a:gridCol w="1417320"/>
                <a:gridCol w="1143000"/>
                <a:gridCol w="1280160"/>
              </a:tblGrid>
              <a:tr h="502920"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839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Horizon</a:t>
                      </a:r>
                      <a:endParaRPr b="0" lang="en-GB" sz="839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72a46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839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Selection</a:t>
                      </a:r>
                      <a:endParaRPr b="0" lang="en-GB" sz="839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72a46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839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CV log loss</a:t>
                      </a:r>
                      <a:endParaRPr b="0" lang="en-GB" sz="839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72a46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839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Interpretation</a:t>
                      </a:r>
                      <a:endParaRPr b="0" lang="en-GB" sz="839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72a46"/>
                    </a:solidFill>
                  </a:tcPr>
                </a:tc>
              </a:tr>
              <a:tr h="502920"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839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h4</a:t>
                      </a:r>
                      <a:endParaRPr b="0" lang="en-GB" sz="839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839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LightGBM + Sigmoid</a:t>
                      </a:r>
                      <a:endParaRPr b="0" lang="en-GB" sz="839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839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legacy</a:t>
                      </a:r>
                      <a:endParaRPr b="0" lang="en-GB" sz="839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839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economic decision available</a:t>
                      </a:r>
                      <a:endParaRPr b="0" lang="en-GB" sz="839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11d33"/>
                    </a:solidFill>
                  </a:tcPr>
                </a:tc>
              </a:tr>
              <a:tr h="502920"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839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h16</a:t>
                      </a:r>
                      <a:endParaRPr b="0" lang="en-GB" sz="839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839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CatBoost + Sigmoid</a:t>
                      </a:r>
                      <a:endParaRPr b="0" lang="en-GB" sz="839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839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0.663 ± 0.019</a:t>
                      </a:r>
                      <a:endParaRPr b="0" lang="en-GB" sz="839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839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strongest candidate</a:t>
                      </a:r>
                      <a:endParaRPr b="0" lang="en-GB" sz="839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11d33"/>
                    </a:solidFill>
                  </a:tcPr>
                </a:tc>
              </a:tr>
              <a:tr h="502920"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839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h96</a:t>
                      </a:r>
                      <a:endParaRPr b="0" lang="en-GB" sz="839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839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LightGBM + Raw</a:t>
                      </a:r>
                      <a:endParaRPr b="0" lang="en-GB" sz="839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839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0.693 ± 0.000</a:t>
                      </a:r>
                      <a:endParaRPr b="0" lang="en-GB" sz="839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839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near 50/50</a:t>
                      </a:r>
                      <a:endParaRPr b="0" lang="en-GB" sz="839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11d33"/>
                    </a:solidFill>
                  </a:tcPr>
                </a:tc>
              </a:tr>
            </a:tbl>
          </a:graphicData>
        </a:graphic>
      </p:graphicFrame>
      <p:sp>
        <p:nvSpPr>
          <p:cNvPr id="219" name="Shape 5"/>
          <p:cNvSpPr/>
          <p:nvPr/>
        </p:nvSpPr>
        <p:spPr>
          <a:xfrm>
            <a:off x="6949440" y="3840480"/>
            <a:ext cx="4571640" cy="1142640"/>
          </a:xfrm>
          <a:prstGeom prst="roundRect">
            <a:avLst>
              <a:gd name="adj" fmla="val 6400"/>
            </a:avLst>
          </a:prstGeom>
          <a:solidFill>
            <a:srgbClr val="101c31"/>
          </a:solidFill>
          <a:ln w="12700">
            <a:solidFill>
              <a:srgbClr val="2b47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0" name="Shape 6"/>
          <p:cNvSpPr/>
          <p:nvPr/>
        </p:nvSpPr>
        <p:spPr>
          <a:xfrm>
            <a:off x="6949440" y="3840480"/>
            <a:ext cx="54360" cy="1142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1" name="Text 7"/>
          <p:cNvSpPr/>
          <p:nvPr/>
        </p:nvSpPr>
        <p:spPr>
          <a:xfrm>
            <a:off x="7113960" y="3977640"/>
            <a:ext cx="4297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Aptos"/>
              </a:rPr>
              <a:t>Interpretation</a:t>
            </a:r>
            <a:endParaRPr b="0" lang="en-GB" sz="1300" spc="-1" strike="noStrike">
              <a:latin typeface="Arial"/>
            </a:endParaRPr>
          </a:p>
        </p:txBody>
      </p:sp>
      <p:sp>
        <p:nvSpPr>
          <p:cNvPr id="222" name="Text 8"/>
          <p:cNvSpPr/>
          <p:nvPr/>
        </p:nvSpPr>
        <p:spPr>
          <a:xfrm>
            <a:off x="7113960" y="4316040"/>
            <a:ext cx="429732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a9bdd5"/>
                </a:solidFill>
                <a:latin typeface="Aptos"/>
              </a:rPr>
              <a:t>h16 was strongest statistically, but still had to pass the economic gate under realistic costs.</a:t>
            </a:r>
            <a:endParaRPr b="0" lang="en-GB" sz="1050" spc="-1" strike="noStrike">
              <a:latin typeface="Arial"/>
            </a:endParaRPr>
          </a:p>
        </p:txBody>
      </p:sp>
      <p:sp>
        <p:nvSpPr>
          <p:cNvPr id="223" name="Text 9"/>
          <p:cNvSpPr/>
          <p:nvPr/>
        </p:nvSpPr>
        <p:spPr>
          <a:xfrm>
            <a:off x="11594520" y="6510600"/>
            <a:ext cx="273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80" spc="-1" strike="noStrike">
                <a:solidFill>
                  <a:srgbClr val="6c809b"/>
                </a:solidFill>
                <a:latin typeface="Aptos"/>
              </a:rPr>
              <a:t>10</a:t>
            </a:r>
            <a:endParaRPr b="0" lang="en-GB" sz="78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5" name="Text 1"/>
          <p:cNvSpPr/>
          <p:nvPr/>
        </p:nvSpPr>
        <p:spPr>
          <a:xfrm>
            <a:off x="502920" y="320040"/>
            <a:ext cx="6949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Aptos Display"/>
                <a:ea typeface="Aptos Display"/>
              </a:rPr>
              <a:t>From probabilities to trading decisions</a:t>
            </a:r>
            <a:endParaRPr b="0" lang="en-GB" sz="2400" spc="-1" strike="noStrike">
              <a:latin typeface="Arial"/>
            </a:endParaRPr>
          </a:p>
        </p:txBody>
      </p:sp>
      <p:sp>
        <p:nvSpPr>
          <p:cNvPr id="226" name="Text 2"/>
          <p:cNvSpPr/>
          <p:nvPr/>
        </p:nvSpPr>
        <p:spPr>
          <a:xfrm>
            <a:off x="521280" y="78624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a9bdd5"/>
                </a:solidFill>
                <a:latin typeface="Aptos"/>
              </a:rPr>
              <a:t>Economic approval is stricter than statistical model selection</a:t>
            </a:r>
            <a:endParaRPr b="0" lang="en-GB" sz="980" spc="-1" strike="noStrike">
              <a:latin typeface="Arial"/>
            </a:endParaRPr>
          </a:p>
        </p:txBody>
      </p:sp>
      <p:sp>
        <p:nvSpPr>
          <p:cNvPr id="227" name="Text 3"/>
          <p:cNvSpPr/>
          <p:nvPr/>
        </p:nvSpPr>
        <p:spPr>
          <a:xfrm>
            <a:off x="8732520" y="42984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20" spc="-1" strike="noStrike">
                <a:solidFill>
                  <a:srgbClr val="7da7cc"/>
                </a:solidFill>
                <a:latin typeface="Aptos"/>
              </a:rPr>
              <a:t>BTCUSDT 15m · no final test access</a:t>
            </a:r>
            <a:endParaRPr b="0" lang="en-GB" sz="820" spc="-1" strike="noStrike">
              <a:latin typeface="Arial"/>
            </a:endParaRPr>
          </a:p>
        </p:txBody>
      </p:sp>
      <p:sp>
        <p:nvSpPr>
          <p:cNvPr id="228" name="Shape 4"/>
          <p:cNvSpPr/>
          <p:nvPr/>
        </p:nvSpPr>
        <p:spPr>
          <a:xfrm>
            <a:off x="502920" y="1078920"/>
            <a:ext cx="11201400" cy="360"/>
          </a:xfrm>
          <a:prstGeom prst="line">
            <a:avLst/>
          </a:prstGeom>
          <a:ln w="12700">
            <a:solidFill>
              <a:srgbClr val="2b47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graphicFrame>
        <p:nvGraphicFramePr>
          <p:cNvPr id="229" name="Table 0"/>
          <p:cNvGraphicFramePr/>
          <p:nvPr/>
        </p:nvGraphicFramePr>
        <p:xfrm>
          <a:off x="5989320" y="1325880"/>
          <a:ext cx="5394600" cy="2834280"/>
        </p:xfrm>
        <a:graphic>
          <a:graphicData uri="http://schemas.openxmlformats.org/drawingml/2006/table">
            <a:tbl>
              <a:tblPr/>
              <a:tblGrid>
                <a:gridCol w="1828800"/>
                <a:gridCol w="3566160"/>
              </a:tblGrid>
              <a:tr h="472320"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88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Gate criterion</a:t>
                      </a:r>
                      <a:endParaRPr b="0" lang="en-GB" sz="880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72a46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88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Meaning</a:t>
                      </a:r>
                      <a:endParaRPr b="0" lang="en-GB" sz="880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72a46"/>
                    </a:solidFill>
                  </a:tcPr>
                </a:tc>
              </a:tr>
              <a:tr h="472320"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88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Trade-fold ratio</a:t>
                      </a:r>
                      <a:endParaRPr b="0" lang="en-GB" sz="880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88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signal must not occur only in isolated periods</a:t>
                      </a:r>
                      <a:endParaRPr b="0" lang="en-GB" sz="880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11d33"/>
                    </a:solidFill>
                  </a:tcPr>
                </a:tc>
              </a:tr>
              <a:tr h="472320"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88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Positive folds</a:t>
                      </a:r>
                      <a:endParaRPr b="0" lang="en-GB" sz="880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88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returns must generalize over time</a:t>
                      </a:r>
                      <a:endParaRPr b="0" lang="en-GB" sz="880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11d33"/>
                    </a:solidFill>
                  </a:tcPr>
                </a:tc>
              </a:tr>
              <a:tr h="472320"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88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Minimum trades</a:t>
                      </a:r>
                      <a:endParaRPr b="0" lang="en-GB" sz="880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88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avoid tiny-sample illusions</a:t>
                      </a:r>
                      <a:endParaRPr b="0" lang="en-GB" sz="880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11d33"/>
                    </a:solidFill>
                  </a:tcPr>
                </a:tc>
              </a:tr>
              <a:tr h="472320"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88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Profit factor</a:t>
                      </a:r>
                      <a:endParaRPr b="0" lang="en-GB" sz="880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88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profits must exceed losses</a:t>
                      </a:r>
                      <a:endParaRPr b="0" lang="en-GB" sz="880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11d33"/>
                    </a:solidFill>
                  </a:tcPr>
                </a:tc>
              </a:tr>
              <a:tr h="472680"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88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Stability score</a:t>
                      </a:r>
                      <a:endParaRPr b="0" lang="en-GB" sz="880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88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penalizes fold dispersion</a:t>
                      </a:r>
                      <a:endParaRPr b="0" lang="en-GB" sz="880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11d33"/>
                    </a:solidFill>
                  </a:tcPr>
                </a:tc>
              </a:tr>
            </a:tbl>
          </a:graphicData>
        </a:graphic>
      </p:graphicFrame>
      <p:sp>
        <p:nvSpPr>
          <p:cNvPr id="230" name="Shape 5"/>
          <p:cNvSpPr/>
          <p:nvPr/>
        </p:nvSpPr>
        <p:spPr>
          <a:xfrm>
            <a:off x="5989320" y="4480560"/>
            <a:ext cx="5394600" cy="822600"/>
          </a:xfrm>
          <a:prstGeom prst="roundRect">
            <a:avLst>
              <a:gd name="adj" fmla="val 8889"/>
            </a:avLst>
          </a:prstGeom>
          <a:solidFill>
            <a:srgbClr val="101c31"/>
          </a:solidFill>
          <a:ln w="12700">
            <a:solidFill>
              <a:srgbClr val="2b47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1" name="Shape 6"/>
          <p:cNvSpPr/>
          <p:nvPr/>
        </p:nvSpPr>
        <p:spPr>
          <a:xfrm>
            <a:off x="5989320" y="4480560"/>
            <a:ext cx="54360" cy="8226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2" name="Text 7"/>
          <p:cNvSpPr/>
          <p:nvPr/>
        </p:nvSpPr>
        <p:spPr>
          <a:xfrm>
            <a:off x="6153840" y="4617720"/>
            <a:ext cx="5120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Aptos"/>
              </a:rPr>
              <a:t>Gate outcome</a:t>
            </a:r>
            <a:endParaRPr b="0" lang="en-GB" sz="1300" spc="-1" strike="noStrike">
              <a:latin typeface="Arial"/>
            </a:endParaRPr>
          </a:p>
        </p:txBody>
      </p:sp>
      <p:sp>
        <p:nvSpPr>
          <p:cNvPr id="233" name="Text 8"/>
          <p:cNvSpPr/>
          <p:nvPr/>
        </p:nvSpPr>
        <p:spPr>
          <a:xfrm>
            <a:off x="6153840" y="4956120"/>
            <a:ext cx="5120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79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a9bdd5"/>
                </a:solidFill>
                <a:latin typeface="Aptos"/>
              </a:rPr>
              <a:t>For every horizon: all outer signals failed the required trade and return checks.</a:t>
            </a:r>
            <a:endParaRPr b="0" lang="en-GB" sz="1050" spc="-1" strike="noStrike">
              <a:latin typeface="Arial"/>
            </a:endParaRPr>
          </a:p>
        </p:txBody>
      </p:sp>
      <p:sp>
        <p:nvSpPr>
          <p:cNvPr id="234" name="Text 9"/>
          <p:cNvSpPr/>
          <p:nvPr/>
        </p:nvSpPr>
        <p:spPr>
          <a:xfrm>
            <a:off x="11594520" y="6510600"/>
            <a:ext cx="273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80" spc="-1" strike="noStrike">
                <a:solidFill>
                  <a:srgbClr val="6c809b"/>
                </a:solidFill>
                <a:latin typeface="Aptos"/>
              </a:rPr>
              <a:t>11</a:t>
            </a:r>
            <a:endParaRPr b="0" lang="en-GB" sz="780" spc="-1" strike="noStrike">
              <a:latin typeface="Arial"/>
            </a:endParaRPr>
          </a:p>
        </p:txBody>
      </p:sp>
      <p:pic>
        <p:nvPicPr>
          <p:cNvPr id="235" name="" descr=""/>
          <p:cNvPicPr/>
          <p:nvPr/>
        </p:nvPicPr>
        <p:blipFill>
          <a:blip r:embed="rId1"/>
          <a:stretch/>
        </p:blipFill>
        <p:spPr>
          <a:xfrm>
            <a:off x="468000" y="1262160"/>
            <a:ext cx="5356440" cy="3597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7" name="Text 1"/>
          <p:cNvSpPr/>
          <p:nvPr/>
        </p:nvSpPr>
        <p:spPr>
          <a:xfrm>
            <a:off x="502920" y="320040"/>
            <a:ext cx="6949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Aptos Display"/>
                <a:ea typeface="Aptos Display"/>
              </a:rPr>
              <a:t>Results: economic feasibility</a:t>
            </a:r>
            <a:endParaRPr b="0" lang="en-GB" sz="2400" spc="-1" strike="noStrike">
              <a:latin typeface="Arial"/>
            </a:endParaRPr>
          </a:p>
        </p:txBody>
      </p:sp>
      <p:sp>
        <p:nvSpPr>
          <p:cNvPr id="238" name="Text 2"/>
          <p:cNvSpPr/>
          <p:nvPr/>
        </p:nvSpPr>
        <p:spPr>
          <a:xfrm>
            <a:off x="521280" y="78624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a9bdd5"/>
                </a:solidFill>
                <a:latin typeface="Aptos"/>
              </a:rPr>
              <a:t>All horizons failed the Economic Gate under current cost assumptions</a:t>
            </a:r>
            <a:endParaRPr b="0" lang="en-GB" sz="980" spc="-1" strike="noStrike">
              <a:latin typeface="Arial"/>
            </a:endParaRPr>
          </a:p>
        </p:txBody>
      </p:sp>
      <p:sp>
        <p:nvSpPr>
          <p:cNvPr id="239" name="Text 3"/>
          <p:cNvSpPr/>
          <p:nvPr/>
        </p:nvSpPr>
        <p:spPr>
          <a:xfrm>
            <a:off x="8732520" y="42984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20" spc="-1" strike="noStrike">
                <a:solidFill>
                  <a:srgbClr val="7da7cc"/>
                </a:solidFill>
                <a:latin typeface="Aptos"/>
              </a:rPr>
              <a:t>BTCUSDT 15m · no final test access</a:t>
            </a:r>
            <a:endParaRPr b="0" lang="en-GB" sz="820" spc="-1" strike="noStrike">
              <a:latin typeface="Arial"/>
            </a:endParaRPr>
          </a:p>
        </p:txBody>
      </p:sp>
      <p:sp>
        <p:nvSpPr>
          <p:cNvPr id="240" name="Shape 4"/>
          <p:cNvSpPr/>
          <p:nvPr/>
        </p:nvSpPr>
        <p:spPr>
          <a:xfrm>
            <a:off x="502920" y="1078920"/>
            <a:ext cx="11201400" cy="360"/>
          </a:xfrm>
          <a:prstGeom prst="line">
            <a:avLst/>
          </a:prstGeom>
          <a:ln w="12700">
            <a:solidFill>
              <a:srgbClr val="2b47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241" name="Image 0" descr="/mnt/data/btc_reworked_presentation/assets/figures/robust_cost_vs_actual.png"/>
          <p:cNvPicPr/>
          <p:nvPr/>
        </p:nvPicPr>
        <p:blipFill>
          <a:blip r:embed="rId1"/>
          <a:stretch/>
        </p:blipFill>
        <p:spPr>
          <a:xfrm>
            <a:off x="540000" y="1467360"/>
            <a:ext cx="6300000" cy="393264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242" name="Table 0"/>
          <p:cNvGraphicFramePr/>
          <p:nvPr/>
        </p:nvGraphicFramePr>
        <p:xfrm>
          <a:off x="7040880" y="1371600"/>
          <a:ext cx="4434480" cy="1828440"/>
        </p:xfrm>
        <a:graphic>
          <a:graphicData uri="http://schemas.openxmlformats.org/drawingml/2006/table">
            <a:tbl>
              <a:tblPr/>
              <a:tblGrid>
                <a:gridCol w="777240"/>
                <a:gridCol w="1097280"/>
                <a:gridCol w="1371600"/>
                <a:gridCol w="1188720"/>
              </a:tblGrid>
              <a:tr h="457200"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92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Horizon</a:t>
                      </a:r>
                      <a:endParaRPr b="0" lang="en-GB" sz="920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72a46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92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Decision</a:t>
                      </a:r>
                      <a:endParaRPr b="0" lang="en-GB" sz="920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72a46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92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Max. robust cost</a:t>
                      </a:r>
                      <a:endParaRPr b="0" lang="en-GB" sz="920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72a46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92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Current cost viable?</a:t>
                      </a:r>
                      <a:endParaRPr b="0" lang="en-GB" sz="920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72a46"/>
                    </a:solidFill>
                  </a:tcPr>
                </a:tc>
              </a:tr>
              <a:tr h="457200"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h4</a:t>
                      </a:r>
                      <a:endParaRPr b="0" lang="en-GB" sz="920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No Trade</a:t>
                      </a:r>
                      <a:endParaRPr b="0" lang="en-GB" sz="920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5 bp</a:t>
                      </a:r>
                      <a:endParaRPr b="0" lang="en-GB" sz="920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No</a:t>
                      </a:r>
                      <a:endParaRPr b="0" lang="en-GB" sz="920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11d33"/>
                    </a:solidFill>
                  </a:tcPr>
                </a:tc>
              </a:tr>
              <a:tr h="457200"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h16</a:t>
                      </a:r>
                      <a:endParaRPr b="0" lang="en-GB" sz="920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No Trade</a:t>
                      </a:r>
                      <a:endParaRPr b="0" lang="en-GB" sz="920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10 bp</a:t>
                      </a:r>
                      <a:endParaRPr b="0" lang="en-GB" sz="920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No</a:t>
                      </a:r>
                      <a:endParaRPr b="0" lang="en-GB" sz="920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11d33"/>
                    </a:solidFill>
                  </a:tcPr>
                </a:tc>
              </a:tr>
              <a:tr h="457200"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h96</a:t>
                      </a:r>
                      <a:endParaRPr b="0" lang="en-GB" sz="920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No Trade</a:t>
                      </a:r>
                      <a:endParaRPr b="0" lang="en-GB" sz="920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5 bp</a:t>
                      </a:r>
                      <a:endParaRPr b="0" lang="en-GB" sz="920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No</a:t>
                      </a:r>
                      <a:endParaRPr b="0" lang="en-GB" sz="920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11d33"/>
                    </a:solidFill>
                  </a:tcPr>
                </a:tc>
              </a:tr>
            </a:tbl>
          </a:graphicData>
        </a:graphic>
      </p:graphicFrame>
      <p:sp>
        <p:nvSpPr>
          <p:cNvPr id="243" name="Shape 5"/>
          <p:cNvSpPr/>
          <p:nvPr/>
        </p:nvSpPr>
        <p:spPr>
          <a:xfrm>
            <a:off x="7040880" y="3611880"/>
            <a:ext cx="4434480" cy="1325520"/>
          </a:xfrm>
          <a:prstGeom prst="roundRect">
            <a:avLst>
              <a:gd name="adj" fmla="val 5517"/>
            </a:avLst>
          </a:prstGeom>
          <a:solidFill>
            <a:srgbClr val="101c31"/>
          </a:solidFill>
          <a:ln w="12700">
            <a:solidFill>
              <a:srgbClr val="2b47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4" name="Shape 6"/>
          <p:cNvSpPr/>
          <p:nvPr/>
        </p:nvSpPr>
        <p:spPr>
          <a:xfrm>
            <a:off x="7040880" y="3611880"/>
            <a:ext cx="54360" cy="1325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5" name="Text 7"/>
          <p:cNvSpPr/>
          <p:nvPr/>
        </p:nvSpPr>
        <p:spPr>
          <a:xfrm>
            <a:off x="7205400" y="3749040"/>
            <a:ext cx="4160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Aptos"/>
              </a:rPr>
              <a:t>Main result</a:t>
            </a:r>
            <a:endParaRPr b="0" lang="en-GB" sz="1300" spc="-1" strike="noStrike">
              <a:latin typeface="Arial"/>
            </a:endParaRPr>
          </a:p>
        </p:txBody>
      </p:sp>
      <p:sp>
        <p:nvSpPr>
          <p:cNvPr id="246" name="Text 8"/>
          <p:cNvSpPr/>
          <p:nvPr/>
        </p:nvSpPr>
        <p:spPr>
          <a:xfrm>
            <a:off x="7205400" y="4087440"/>
            <a:ext cx="416016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a9bdd5"/>
                </a:solidFill>
                <a:latin typeface="Aptos"/>
              </a:rPr>
              <a:t>Even the strongest horizon covered only 10 bp, far below the 31.9744 bp round-trip cost assumption.</a:t>
            </a:r>
            <a:endParaRPr b="0" lang="en-GB" sz="1050" spc="-1" strike="noStrike">
              <a:latin typeface="Arial"/>
            </a:endParaRPr>
          </a:p>
        </p:txBody>
      </p:sp>
      <p:sp>
        <p:nvSpPr>
          <p:cNvPr id="247" name="Text 9"/>
          <p:cNvSpPr/>
          <p:nvPr/>
        </p:nvSpPr>
        <p:spPr>
          <a:xfrm>
            <a:off x="11594520" y="6510600"/>
            <a:ext cx="273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80" spc="-1" strike="noStrike">
                <a:solidFill>
                  <a:srgbClr val="6c809b"/>
                </a:solidFill>
                <a:latin typeface="Aptos"/>
              </a:rPr>
              <a:t>12</a:t>
            </a:r>
            <a:endParaRPr b="0" lang="en-GB" sz="78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9" name="Text 1"/>
          <p:cNvSpPr/>
          <p:nvPr/>
        </p:nvSpPr>
        <p:spPr>
          <a:xfrm>
            <a:off x="502920" y="320040"/>
            <a:ext cx="6949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Aptos Display"/>
                <a:ea typeface="Aptos Display"/>
              </a:rPr>
              <a:t>Results: cost-threshold surface</a:t>
            </a:r>
            <a:endParaRPr b="0" lang="en-GB" sz="2400" spc="-1" strike="noStrike">
              <a:latin typeface="Arial"/>
            </a:endParaRPr>
          </a:p>
        </p:txBody>
      </p:sp>
      <p:sp>
        <p:nvSpPr>
          <p:cNvPr id="250" name="Text 2"/>
          <p:cNvSpPr/>
          <p:nvPr/>
        </p:nvSpPr>
        <p:spPr>
          <a:xfrm>
            <a:off x="521280" y="78624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a9bdd5"/>
                </a:solidFill>
                <a:latin typeface="Aptos"/>
              </a:rPr>
              <a:t>h16 showed the strongest exploratory region but not enough cost coverage</a:t>
            </a:r>
            <a:endParaRPr b="0" lang="en-GB" sz="980" spc="-1" strike="noStrike">
              <a:latin typeface="Arial"/>
            </a:endParaRPr>
          </a:p>
        </p:txBody>
      </p:sp>
      <p:sp>
        <p:nvSpPr>
          <p:cNvPr id="251" name="Text 3"/>
          <p:cNvSpPr/>
          <p:nvPr/>
        </p:nvSpPr>
        <p:spPr>
          <a:xfrm>
            <a:off x="8732520" y="42984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20" spc="-1" strike="noStrike">
                <a:solidFill>
                  <a:srgbClr val="7da7cc"/>
                </a:solidFill>
                <a:latin typeface="Aptos"/>
              </a:rPr>
              <a:t>BTCUSDT 15m · no final test access</a:t>
            </a:r>
            <a:endParaRPr b="0" lang="en-GB" sz="820" spc="-1" strike="noStrike">
              <a:latin typeface="Arial"/>
            </a:endParaRPr>
          </a:p>
        </p:txBody>
      </p:sp>
      <p:sp>
        <p:nvSpPr>
          <p:cNvPr id="252" name="Shape 4"/>
          <p:cNvSpPr/>
          <p:nvPr/>
        </p:nvSpPr>
        <p:spPr>
          <a:xfrm>
            <a:off x="502920" y="1078920"/>
            <a:ext cx="11201400" cy="360"/>
          </a:xfrm>
          <a:prstGeom prst="line">
            <a:avLst/>
          </a:prstGeom>
          <a:ln w="12700">
            <a:solidFill>
              <a:srgbClr val="2b47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253" name="Image 0" descr="/mnt/data/btc_reworked_presentation/assets/figures/h16_cost_surface_english.png"/>
          <p:cNvPicPr/>
          <p:nvPr/>
        </p:nvPicPr>
        <p:blipFill>
          <a:blip r:embed="rId1"/>
          <a:stretch/>
        </p:blipFill>
        <p:spPr>
          <a:xfrm>
            <a:off x="640080" y="1479240"/>
            <a:ext cx="6583320" cy="3807720"/>
          </a:xfrm>
          <a:prstGeom prst="rect">
            <a:avLst/>
          </a:prstGeom>
          <a:ln w="0">
            <a:noFill/>
          </a:ln>
        </p:spPr>
      </p:pic>
      <p:sp>
        <p:nvSpPr>
          <p:cNvPr id="254" name="Shape 5"/>
          <p:cNvSpPr/>
          <p:nvPr/>
        </p:nvSpPr>
        <p:spPr>
          <a:xfrm>
            <a:off x="7589520" y="1417320"/>
            <a:ext cx="3474360" cy="1051200"/>
          </a:xfrm>
          <a:prstGeom prst="roundRect">
            <a:avLst>
              <a:gd name="adj" fmla="val 6957"/>
            </a:avLst>
          </a:prstGeom>
          <a:solidFill>
            <a:srgbClr val="101c31"/>
          </a:solidFill>
          <a:ln w="12700">
            <a:solidFill>
              <a:srgbClr val="2b47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5" name="Shape 6"/>
          <p:cNvSpPr/>
          <p:nvPr/>
        </p:nvSpPr>
        <p:spPr>
          <a:xfrm>
            <a:off x="7589520" y="1417320"/>
            <a:ext cx="54360" cy="10512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6" name="Text 7"/>
          <p:cNvSpPr/>
          <p:nvPr/>
        </p:nvSpPr>
        <p:spPr>
          <a:xfrm>
            <a:off x="7754040" y="1554480"/>
            <a:ext cx="3200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Aptos"/>
              </a:rPr>
              <a:t>Reading the surface</a:t>
            </a:r>
            <a:endParaRPr b="0" lang="en-GB" sz="1300" spc="-1" strike="noStrike">
              <a:latin typeface="Arial"/>
            </a:endParaRPr>
          </a:p>
        </p:txBody>
      </p:sp>
      <p:sp>
        <p:nvSpPr>
          <p:cNvPr id="257" name="Text 8"/>
          <p:cNvSpPr/>
          <p:nvPr/>
        </p:nvSpPr>
        <p:spPr>
          <a:xfrm>
            <a:off x="7754040" y="1892880"/>
            <a:ext cx="320004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a9bdd5"/>
                </a:solidFill>
                <a:latin typeface="Aptos"/>
              </a:rPr>
              <a:t>Brighter areas indicate better net-return LCB stability for a threshold / cost pair.</a:t>
            </a:r>
            <a:endParaRPr b="0" lang="en-GB" sz="1050" spc="-1" strike="noStrike">
              <a:latin typeface="Arial"/>
            </a:endParaRPr>
          </a:p>
        </p:txBody>
      </p:sp>
      <p:sp>
        <p:nvSpPr>
          <p:cNvPr id="258" name="Shape 9"/>
          <p:cNvSpPr/>
          <p:nvPr/>
        </p:nvSpPr>
        <p:spPr>
          <a:xfrm>
            <a:off x="7589520" y="2743200"/>
            <a:ext cx="3474360" cy="1051200"/>
          </a:xfrm>
          <a:prstGeom prst="roundRect">
            <a:avLst>
              <a:gd name="adj" fmla="val 6957"/>
            </a:avLst>
          </a:prstGeom>
          <a:solidFill>
            <a:srgbClr val="101c31"/>
          </a:solidFill>
          <a:ln w="12700">
            <a:solidFill>
              <a:srgbClr val="2b47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9" name="Shape 10"/>
          <p:cNvSpPr/>
          <p:nvPr/>
        </p:nvSpPr>
        <p:spPr>
          <a:xfrm>
            <a:off x="7589520" y="2743200"/>
            <a:ext cx="54360" cy="1051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0" name="Text 11"/>
          <p:cNvSpPr/>
          <p:nvPr/>
        </p:nvSpPr>
        <p:spPr>
          <a:xfrm>
            <a:off x="7754040" y="2880360"/>
            <a:ext cx="3200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Aptos"/>
              </a:rPr>
              <a:t>Observed pattern</a:t>
            </a:r>
            <a:endParaRPr b="0" lang="en-GB" sz="1300" spc="-1" strike="noStrike">
              <a:latin typeface="Arial"/>
            </a:endParaRPr>
          </a:p>
        </p:txBody>
      </p:sp>
      <p:sp>
        <p:nvSpPr>
          <p:cNvPr id="261" name="Text 12"/>
          <p:cNvSpPr/>
          <p:nvPr/>
        </p:nvSpPr>
        <p:spPr>
          <a:xfrm>
            <a:off x="7754040" y="3218760"/>
            <a:ext cx="320004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a9bdd5"/>
                </a:solidFill>
                <a:latin typeface="Aptos"/>
              </a:rPr>
              <a:t>Robust regions exist only at lower transaction costs, then vanish as costs approach reality.</a:t>
            </a:r>
            <a:endParaRPr b="0" lang="en-GB" sz="1050" spc="-1" strike="noStrike">
              <a:latin typeface="Arial"/>
            </a:endParaRPr>
          </a:p>
        </p:txBody>
      </p:sp>
      <p:sp>
        <p:nvSpPr>
          <p:cNvPr id="262" name="Shape 13"/>
          <p:cNvSpPr/>
          <p:nvPr/>
        </p:nvSpPr>
        <p:spPr>
          <a:xfrm>
            <a:off x="7589520" y="4069080"/>
            <a:ext cx="3474360" cy="1051200"/>
          </a:xfrm>
          <a:prstGeom prst="roundRect">
            <a:avLst>
              <a:gd name="adj" fmla="val 6957"/>
            </a:avLst>
          </a:prstGeom>
          <a:solidFill>
            <a:srgbClr val="101c31"/>
          </a:solidFill>
          <a:ln w="12700">
            <a:solidFill>
              <a:srgbClr val="2b47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3" name="Shape 14"/>
          <p:cNvSpPr/>
          <p:nvPr/>
        </p:nvSpPr>
        <p:spPr>
          <a:xfrm>
            <a:off x="7589520" y="4069080"/>
            <a:ext cx="54360" cy="1051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4" name="Text 15"/>
          <p:cNvSpPr/>
          <p:nvPr/>
        </p:nvSpPr>
        <p:spPr>
          <a:xfrm>
            <a:off x="7754040" y="4206240"/>
            <a:ext cx="3200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Aptos"/>
              </a:rPr>
              <a:t>Decision</a:t>
            </a:r>
            <a:endParaRPr b="0" lang="en-GB" sz="1300" spc="-1" strike="noStrike">
              <a:latin typeface="Arial"/>
            </a:endParaRPr>
          </a:p>
        </p:txBody>
      </p:sp>
      <p:sp>
        <p:nvSpPr>
          <p:cNvPr id="265" name="Text 16"/>
          <p:cNvSpPr/>
          <p:nvPr/>
        </p:nvSpPr>
        <p:spPr>
          <a:xfrm>
            <a:off x="7754040" y="4544640"/>
            <a:ext cx="320004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a9bdd5"/>
                </a:solidFill>
                <a:latin typeface="Aptos"/>
              </a:rPr>
              <a:t>Exploratory signal ≠ approved strategy. No final test was opened.</a:t>
            </a:r>
            <a:endParaRPr b="0" lang="en-GB" sz="1050" spc="-1" strike="noStrike">
              <a:latin typeface="Arial"/>
            </a:endParaRPr>
          </a:p>
        </p:txBody>
      </p:sp>
      <p:sp>
        <p:nvSpPr>
          <p:cNvPr id="266" name="Text 17"/>
          <p:cNvSpPr/>
          <p:nvPr/>
        </p:nvSpPr>
        <p:spPr>
          <a:xfrm>
            <a:off x="11594520" y="6510600"/>
            <a:ext cx="273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80" spc="-1" strike="noStrike">
                <a:solidFill>
                  <a:srgbClr val="6c809b"/>
                </a:solidFill>
                <a:latin typeface="Aptos"/>
              </a:rPr>
              <a:t>13</a:t>
            </a:r>
            <a:endParaRPr b="0" lang="en-GB" sz="78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8" name="Text 1"/>
          <p:cNvSpPr/>
          <p:nvPr/>
        </p:nvSpPr>
        <p:spPr>
          <a:xfrm>
            <a:off x="502920" y="320040"/>
            <a:ext cx="6949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Aptos Display"/>
                <a:ea typeface="Aptos Display"/>
              </a:rPr>
              <a:t>Challenges and errors</a:t>
            </a:r>
            <a:endParaRPr b="0" lang="en-GB" sz="2400" spc="-1" strike="noStrike">
              <a:latin typeface="Arial"/>
            </a:endParaRPr>
          </a:p>
        </p:txBody>
      </p:sp>
      <p:sp>
        <p:nvSpPr>
          <p:cNvPr id="269" name="Text 2"/>
          <p:cNvSpPr/>
          <p:nvPr/>
        </p:nvSpPr>
        <p:spPr>
          <a:xfrm>
            <a:off x="521280" y="78624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a9bdd5"/>
                </a:solidFill>
                <a:latin typeface="Aptos"/>
              </a:rPr>
              <a:t>Most difficult issue: leakage-safe alignment across data, targets and returns</a:t>
            </a:r>
            <a:endParaRPr b="0" lang="en-GB" sz="980" spc="-1" strike="noStrike">
              <a:latin typeface="Arial"/>
            </a:endParaRPr>
          </a:p>
        </p:txBody>
      </p:sp>
      <p:sp>
        <p:nvSpPr>
          <p:cNvPr id="270" name="Text 3"/>
          <p:cNvSpPr/>
          <p:nvPr/>
        </p:nvSpPr>
        <p:spPr>
          <a:xfrm>
            <a:off x="8732520" y="42984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20" spc="-1" strike="noStrike">
                <a:solidFill>
                  <a:srgbClr val="7da7cc"/>
                </a:solidFill>
                <a:latin typeface="Aptos"/>
              </a:rPr>
              <a:t>BTCUSDT 15m · no final test access</a:t>
            </a:r>
            <a:endParaRPr b="0" lang="en-GB" sz="820" spc="-1" strike="noStrike">
              <a:latin typeface="Arial"/>
            </a:endParaRPr>
          </a:p>
        </p:txBody>
      </p:sp>
      <p:sp>
        <p:nvSpPr>
          <p:cNvPr id="271" name="Shape 4"/>
          <p:cNvSpPr/>
          <p:nvPr/>
        </p:nvSpPr>
        <p:spPr>
          <a:xfrm>
            <a:off x="502920" y="1078920"/>
            <a:ext cx="11201400" cy="360"/>
          </a:xfrm>
          <a:prstGeom prst="line">
            <a:avLst/>
          </a:prstGeom>
          <a:ln w="12700">
            <a:solidFill>
              <a:srgbClr val="2b47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2" name="Shape 5"/>
          <p:cNvSpPr/>
          <p:nvPr/>
        </p:nvSpPr>
        <p:spPr>
          <a:xfrm>
            <a:off x="7680960" y="1417320"/>
            <a:ext cx="3428640" cy="1234080"/>
          </a:xfrm>
          <a:prstGeom prst="roundRect">
            <a:avLst>
              <a:gd name="adj" fmla="val 5926"/>
            </a:avLst>
          </a:prstGeom>
          <a:solidFill>
            <a:srgbClr val="101c31"/>
          </a:solidFill>
          <a:ln w="12700">
            <a:solidFill>
              <a:srgbClr val="2b47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3" name="Shape 6"/>
          <p:cNvSpPr/>
          <p:nvPr/>
        </p:nvSpPr>
        <p:spPr>
          <a:xfrm>
            <a:off x="7680960" y="1417320"/>
            <a:ext cx="54360" cy="1234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4" name="Text 7"/>
          <p:cNvSpPr/>
          <p:nvPr/>
        </p:nvSpPr>
        <p:spPr>
          <a:xfrm>
            <a:off x="7845480" y="1554480"/>
            <a:ext cx="3154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Aptos"/>
              </a:rPr>
              <a:t>Challenge</a:t>
            </a:r>
            <a:endParaRPr b="0" lang="en-GB" sz="1300" spc="-1" strike="noStrike">
              <a:latin typeface="Arial"/>
            </a:endParaRPr>
          </a:p>
        </p:txBody>
      </p:sp>
      <p:sp>
        <p:nvSpPr>
          <p:cNvPr id="275" name="Text 8"/>
          <p:cNvSpPr/>
          <p:nvPr/>
        </p:nvSpPr>
        <p:spPr>
          <a:xfrm>
            <a:off x="7845480" y="1892880"/>
            <a:ext cx="3154320" cy="61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a9bdd5"/>
                </a:solidFill>
                <a:latin typeface="Aptos"/>
              </a:rPr>
              <a:t>Forward targets need future candles, but features must never include future information.</a:t>
            </a:r>
            <a:endParaRPr b="0" lang="en-GB" sz="1050" spc="-1" strike="noStrike">
              <a:latin typeface="Arial"/>
            </a:endParaRPr>
          </a:p>
        </p:txBody>
      </p:sp>
      <p:sp>
        <p:nvSpPr>
          <p:cNvPr id="276" name="Shape 9"/>
          <p:cNvSpPr/>
          <p:nvPr/>
        </p:nvSpPr>
        <p:spPr>
          <a:xfrm>
            <a:off x="7680960" y="2834640"/>
            <a:ext cx="3428640" cy="1234080"/>
          </a:xfrm>
          <a:prstGeom prst="roundRect">
            <a:avLst>
              <a:gd name="adj" fmla="val 5926"/>
            </a:avLst>
          </a:prstGeom>
          <a:solidFill>
            <a:srgbClr val="101c31"/>
          </a:solidFill>
          <a:ln w="12700">
            <a:solidFill>
              <a:srgbClr val="2b47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7" name="Shape 10"/>
          <p:cNvSpPr/>
          <p:nvPr/>
        </p:nvSpPr>
        <p:spPr>
          <a:xfrm>
            <a:off x="7680960" y="2834640"/>
            <a:ext cx="54360" cy="1234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8" name="Text 11"/>
          <p:cNvSpPr/>
          <p:nvPr/>
        </p:nvSpPr>
        <p:spPr>
          <a:xfrm>
            <a:off x="7845480" y="2971800"/>
            <a:ext cx="3154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Aptos"/>
              </a:rPr>
              <a:t>Observed issues</a:t>
            </a:r>
            <a:endParaRPr b="0" lang="en-GB" sz="1300" spc="-1" strike="noStrike">
              <a:latin typeface="Arial"/>
            </a:endParaRPr>
          </a:p>
        </p:txBody>
      </p:sp>
      <p:sp>
        <p:nvSpPr>
          <p:cNvPr id="279" name="Text 12"/>
          <p:cNvSpPr/>
          <p:nvPr/>
        </p:nvSpPr>
        <p:spPr>
          <a:xfrm>
            <a:off x="7845480" y="3310200"/>
            <a:ext cx="3154320" cy="61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a9bdd5"/>
                </a:solidFill>
                <a:latin typeface="Aptos"/>
              </a:rPr>
              <a:t>Missing candles, warm-up windows and h4 legacy reports caused alignment and reporting edge cases.</a:t>
            </a:r>
            <a:endParaRPr b="0" lang="en-GB" sz="1050" spc="-1" strike="noStrike">
              <a:latin typeface="Arial"/>
            </a:endParaRPr>
          </a:p>
        </p:txBody>
      </p:sp>
      <p:sp>
        <p:nvSpPr>
          <p:cNvPr id="280" name="Shape 13"/>
          <p:cNvSpPr/>
          <p:nvPr/>
        </p:nvSpPr>
        <p:spPr>
          <a:xfrm>
            <a:off x="7680960" y="4251960"/>
            <a:ext cx="3428640" cy="1234080"/>
          </a:xfrm>
          <a:prstGeom prst="roundRect">
            <a:avLst>
              <a:gd name="adj" fmla="val 5926"/>
            </a:avLst>
          </a:prstGeom>
          <a:solidFill>
            <a:srgbClr val="101c31"/>
          </a:solidFill>
          <a:ln w="12700">
            <a:solidFill>
              <a:srgbClr val="2b47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1" name="Shape 14"/>
          <p:cNvSpPr/>
          <p:nvPr/>
        </p:nvSpPr>
        <p:spPr>
          <a:xfrm>
            <a:off x="7680960" y="4251960"/>
            <a:ext cx="54360" cy="12340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2" name="Text 15"/>
          <p:cNvSpPr/>
          <p:nvPr/>
        </p:nvSpPr>
        <p:spPr>
          <a:xfrm>
            <a:off x="7845480" y="4389120"/>
            <a:ext cx="3154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Aptos"/>
              </a:rPr>
              <a:t>Resolution</a:t>
            </a:r>
            <a:endParaRPr b="0" lang="en-GB" sz="1300" spc="-1" strike="noStrike">
              <a:latin typeface="Arial"/>
            </a:endParaRPr>
          </a:p>
        </p:txBody>
      </p:sp>
      <p:sp>
        <p:nvSpPr>
          <p:cNvPr id="283" name="Text 16"/>
          <p:cNvSpPr/>
          <p:nvPr/>
        </p:nvSpPr>
        <p:spPr>
          <a:xfrm>
            <a:off x="7845480" y="4727520"/>
            <a:ext cx="3154320" cy="61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a9bdd5"/>
                </a:solidFill>
                <a:latin typeface="Aptos"/>
              </a:rPr>
              <a:t>Horizon-aware targets, purging, embargo, read-only final aggregation and explicit warnings.</a:t>
            </a:r>
            <a:endParaRPr b="0" lang="en-GB" sz="1050" spc="-1" strike="noStrike">
              <a:latin typeface="Arial"/>
            </a:endParaRPr>
          </a:p>
        </p:txBody>
      </p:sp>
      <p:sp>
        <p:nvSpPr>
          <p:cNvPr id="284" name="Text 17"/>
          <p:cNvSpPr/>
          <p:nvPr/>
        </p:nvSpPr>
        <p:spPr>
          <a:xfrm>
            <a:off x="11594520" y="6510600"/>
            <a:ext cx="273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80" spc="-1" strike="noStrike">
                <a:solidFill>
                  <a:srgbClr val="6c809b"/>
                </a:solidFill>
                <a:latin typeface="Aptos"/>
              </a:rPr>
              <a:t>14</a:t>
            </a:r>
            <a:endParaRPr b="0" lang="en-GB" sz="780" spc="-1" strike="noStrike">
              <a:latin typeface="Arial"/>
            </a:endParaRPr>
          </a:p>
        </p:txBody>
      </p:sp>
      <p:pic>
        <p:nvPicPr>
          <p:cNvPr id="285" name="" descr=""/>
          <p:cNvPicPr/>
          <p:nvPr/>
        </p:nvPicPr>
        <p:blipFill>
          <a:blip r:embed="rId1"/>
          <a:stretch/>
        </p:blipFill>
        <p:spPr>
          <a:xfrm>
            <a:off x="432000" y="1404000"/>
            <a:ext cx="6948000" cy="4124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7" name="Text 1"/>
          <p:cNvSpPr/>
          <p:nvPr/>
        </p:nvSpPr>
        <p:spPr>
          <a:xfrm>
            <a:off x="502920" y="320040"/>
            <a:ext cx="6949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Aptos Display"/>
                <a:ea typeface="Aptos Display"/>
              </a:rPr>
              <a:t>Discussion and limitations</a:t>
            </a:r>
            <a:endParaRPr b="0" lang="en-GB" sz="2400" spc="-1" strike="noStrike">
              <a:latin typeface="Arial"/>
            </a:endParaRPr>
          </a:p>
        </p:txBody>
      </p:sp>
      <p:sp>
        <p:nvSpPr>
          <p:cNvPr id="288" name="Text 2"/>
          <p:cNvSpPr/>
          <p:nvPr/>
        </p:nvSpPr>
        <p:spPr>
          <a:xfrm>
            <a:off x="521280" y="78624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a9bdd5"/>
                </a:solidFill>
                <a:latin typeface="Aptos"/>
              </a:rPr>
              <a:t>Statistical signal is not the same as a deployable trading strategy</a:t>
            </a:r>
            <a:endParaRPr b="0" lang="en-GB" sz="980" spc="-1" strike="noStrike">
              <a:latin typeface="Arial"/>
            </a:endParaRPr>
          </a:p>
        </p:txBody>
      </p:sp>
      <p:sp>
        <p:nvSpPr>
          <p:cNvPr id="289" name="Text 3"/>
          <p:cNvSpPr/>
          <p:nvPr/>
        </p:nvSpPr>
        <p:spPr>
          <a:xfrm>
            <a:off x="8732520" y="42984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20" spc="-1" strike="noStrike">
                <a:solidFill>
                  <a:srgbClr val="7da7cc"/>
                </a:solidFill>
                <a:latin typeface="Aptos"/>
              </a:rPr>
              <a:t>BTCUSDT 15m · no final test access</a:t>
            </a:r>
            <a:endParaRPr b="0" lang="en-GB" sz="820" spc="-1" strike="noStrike">
              <a:latin typeface="Arial"/>
            </a:endParaRPr>
          </a:p>
        </p:txBody>
      </p:sp>
      <p:sp>
        <p:nvSpPr>
          <p:cNvPr id="290" name="Shape 4"/>
          <p:cNvSpPr/>
          <p:nvPr/>
        </p:nvSpPr>
        <p:spPr>
          <a:xfrm>
            <a:off x="502920" y="1078920"/>
            <a:ext cx="11201400" cy="360"/>
          </a:xfrm>
          <a:prstGeom prst="line">
            <a:avLst/>
          </a:prstGeom>
          <a:ln w="12700">
            <a:solidFill>
              <a:srgbClr val="2b47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1" name="Shape 5"/>
          <p:cNvSpPr/>
          <p:nvPr/>
        </p:nvSpPr>
        <p:spPr>
          <a:xfrm>
            <a:off x="685800" y="1325880"/>
            <a:ext cx="3428640" cy="1325520"/>
          </a:xfrm>
          <a:prstGeom prst="roundRect">
            <a:avLst>
              <a:gd name="adj" fmla="val 5517"/>
            </a:avLst>
          </a:prstGeom>
          <a:solidFill>
            <a:srgbClr val="101c31"/>
          </a:solidFill>
          <a:ln w="12700">
            <a:solidFill>
              <a:srgbClr val="2b47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2" name="Shape 6"/>
          <p:cNvSpPr/>
          <p:nvPr/>
        </p:nvSpPr>
        <p:spPr>
          <a:xfrm>
            <a:off x="685800" y="1325880"/>
            <a:ext cx="54360" cy="13255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3" name="Text 7"/>
          <p:cNvSpPr/>
          <p:nvPr/>
        </p:nvSpPr>
        <p:spPr>
          <a:xfrm>
            <a:off x="850320" y="1463040"/>
            <a:ext cx="3154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Aptos"/>
              </a:rPr>
              <a:t>What worked</a:t>
            </a:r>
            <a:endParaRPr b="0" lang="en-GB" sz="1300" spc="-1" strike="noStrike">
              <a:latin typeface="Arial"/>
            </a:endParaRPr>
          </a:p>
        </p:txBody>
      </p:sp>
      <p:sp>
        <p:nvSpPr>
          <p:cNvPr id="294" name="Text 8"/>
          <p:cNvSpPr/>
          <p:nvPr/>
        </p:nvSpPr>
        <p:spPr>
          <a:xfrm>
            <a:off x="850320" y="1801440"/>
            <a:ext cx="315432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a9bdd5"/>
                </a:solidFill>
                <a:latin typeface="Aptos"/>
              </a:rPr>
              <a:t>The pipeline found limited statistical and low-cost signal regions, especially for h16.</a:t>
            </a:r>
            <a:endParaRPr b="0" lang="en-GB" sz="1050" spc="-1" strike="noStrike">
              <a:latin typeface="Arial"/>
            </a:endParaRPr>
          </a:p>
        </p:txBody>
      </p:sp>
      <p:sp>
        <p:nvSpPr>
          <p:cNvPr id="295" name="Shape 9"/>
          <p:cNvSpPr/>
          <p:nvPr/>
        </p:nvSpPr>
        <p:spPr>
          <a:xfrm>
            <a:off x="4389120" y="1325880"/>
            <a:ext cx="3428640" cy="1325520"/>
          </a:xfrm>
          <a:prstGeom prst="roundRect">
            <a:avLst>
              <a:gd name="adj" fmla="val 5517"/>
            </a:avLst>
          </a:prstGeom>
          <a:solidFill>
            <a:srgbClr val="101c31"/>
          </a:solidFill>
          <a:ln w="12700">
            <a:solidFill>
              <a:srgbClr val="2b47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6" name="Shape 10"/>
          <p:cNvSpPr/>
          <p:nvPr/>
        </p:nvSpPr>
        <p:spPr>
          <a:xfrm>
            <a:off x="4389120" y="1325880"/>
            <a:ext cx="54360" cy="13255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7" name="Text 11"/>
          <p:cNvSpPr/>
          <p:nvPr/>
        </p:nvSpPr>
        <p:spPr>
          <a:xfrm>
            <a:off x="4553640" y="1463040"/>
            <a:ext cx="3154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Aptos"/>
              </a:rPr>
              <a:t>What failed</a:t>
            </a:r>
            <a:endParaRPr b="0" lang="en-GB" sz="1300" spc="-1" strike="noStrike">
              <a:latin typeface="Arial"/>
            </a:endParaRPr>
          </a:p>
        </p:txBody>
      </p:sp>
      <p:sp>
        <p:nvSpPr>
          <p:cNvPr id="298" name="Text 12"/>
          <p:cNvSpPr/>
          <p:nvPr/>
        </p:nvSpPr>
        <p:spPr>
          <a:xfrm>
            <a:off x="4553640" y="1801440"/>
            <a:ext cx="315432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a9bdd5"/>
                </a:solidFill>
                <a:latin typeface="Aptos"/>
              </a:rPr>
              <a:t>No candidate provided enough margin to overcome the predefined cost model.</a:t>
            </a:r>
            <a:endParaRPr b="0" lang="en-GB" sz="1050" spc="-1" strike="noStrike">
              <a:latin typeface="Arial"/>
            </a:endParaRPr>
          </a:p>
        </p:txBody>
      </p:sp>
      <p:sp>
        <p:nvSpPr>
          <p:cNvPr id="299" name="Shape 13"/>
          <p:cNvSpPr/>
          <p:nvPr/>
        </p:nvSpPr>
        <p:spPr>
          <a:xfrm>
            <a:off x="8092440" y="1325880"/>
            <a:ext cx="3428640" cy="1325520"/>
          </a:xfrm>
          <a:prstGeom prst="roundRect">
            <a:avLst>
              <a:gd name="adj" fmla="val 5517"/>
            </a:avLst>
          </a:prstGeom>
          <a:solidFill>
            <a:srgbClr val="101c31"/>
          </a:solidFill>
          <a:ln w="12700">
            <a:solidFill>
              <a:srgbClr val="2b47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0" name="Shape 14"/>
          <p:cNvSpPr/>
          <p:nvPr/>
        </p:nvSpPr>
        <p:spPr>
          <a:xfrm>
            <a:off x="8092440" y="1325880"/>
            <a:ext cx="54360" cy="1325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1" name="Text 15"/>
          <p:cNvSpPr/>
          <p:nvPr/>
        </p:nvSpPr>
        <p:spPr>
          <a:xfrm>
            <a:off x="8256960" y="1463040"/>
            <a:ext cx="3154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Aptos"/>
              </a:rPr>
              <a:t>Why it matters</a:t>
            </a:r>
            <a:endParaRPr b="0" lang="en-GB" sz="1300" spc="-1" strike="noStrike">
              <a:latin typeface="Arial"/>
            </a:endParaRPr>
          </a:p>
        </p:txBody>
      </p:sp>
      <p:sp>
        <p:nvSpPr>
          <p:cNvPr id="302" name="Text 16"/>
          <p:cNvSpPr/>
          <p:nvPr/>
        </p:nvSpPr>
        <p:spPr>
          <a:xfrm>
            <a:off x="8256960" y="1801440"/>
            <a:ext cx="315432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a9bdd5"/>
                </a:solidFill>
                <a:latin typeface="Aptos"/>
              </a:rPr>
              <a:t>Rejecting weak signals protects the final test and avoids overclaiming a trading edge.</a:t>
            </a:r>
            <a:endParaRPr b="0" lang="en-GB" sz="1050" spc="-1" strike="noStrike">
              <a:latin typeface="Arial"/>
            </a:endParaRPr>
          </a:p>
        </p:txBody>
      </p:sp>
      <p:graphicFrame>
        <p:nvGraphicFramePr>
          <p:cNvPr id="303" name="Table 0"/>
          <p:cNvGraphicFramePr/>
          <p:nvPr/>
        </p:nvGraphicFramePr>
        <p:xfrm>
          <a:off x="720000" y="3337560"/>
          <a:ext cx="10800000" cy="1828440"/>
        </p:xfrm>
        <a:graphic>
          <a:graphicData uri="http://schemas.openxmlformats.org/drawingml/2006/table">
            <a:tbl>
              <a:tblPr/>
              <a:tblGrid>
                <a:gridCol w="3199680"/>
                <a:gridCol w="7600320"/>
              </a:tblGrid>
              <a:tr h="365760"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92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Limitation</a:t>
                      </a:r>
                      <a:endParaRPr b="0" lang="en-GB" sz="920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72a46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92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Future work</a:t>
                      </a:r>
                      <a:endParaRPr b="0" lang="en-GB" sz="920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72a46"/>
                    </a:solidFill>
                  </a:tcPr>
                </a:tc>
              </a:tr>
              <a:tr h="365760"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Spot OHLCV only</a:t>
                      </a:r>
                      <a:endParaRPr b="0" lang="en-GB" sz="920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add order-book, futures, funding and liquidity features</a:t>
                      </a:r>
                      <a:endParaRPr b="0" lang="en-GB" sz="920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11d33"/>
                    </a:solidFill>
                  </a:tcPr>
                </a:tc>
              </a:tr>
              <a:tr h="365760"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Static cost model</a:t>
                      </a:r>
                      <a:endParaRPr b="0" lang="en-GB" sz="920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test maker/taker and execution-aware costs</a:t>
                      </a:r>
                      <a:endParaRPr b="0" lang="en-GB" sz="920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11d33"/>
                    </a:solidFill>
                  </a:tcPr>
                </a:tc>
              </a:tr>
              <a:tr h="365760"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Binary direction target</a:t>
                      </a:r>
                      <a:endParaRPr b="0" lang="en-GB" sz="920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evaluate cost-aware long/no-trade or return-distribution targets</a:t>
                      </a:r>
                      <a:endParaRPr b="0" lang="en-GB" sz="920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11d33"/>
                    </a:solidFill>
                  </a:tcPr>
                </a:tc>
              </a:tr>
              <a:tr h="365760"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No live confirmation</a:t>
                      </a:r>
                      <a:endParaRPr b="0" lang="en-GB" sz="920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pre-register a paper-trading confirmatory protocol</a:t>
                      </a:r>
                      <a:endParaRPr b="0" lang="en-GB" sz="920" spc="-1" strike="noStrike">
                        <a:latin typeface="Arial"/>
                      </a:endParaRPr>
                    </a:p>
                  </a:txBody>
                  <a:tcPr anchor="t" marL="45720" marR="45720">
                    <a:lnL w="7200">
                      <a:solidFill>
                        <a:srgbClr val="2e4568"/>
                      </a:solidFill>
                    </a:lnL>
                    <a:lnR w="7200">
                      <a:solidFill>
                        <a:srgbClr val="2e4568"/>
                      </a:solidFill>
                    </a:lnR>
                    <a:lnT w="7200">
                      <a:solidFill>
                        <a:srgbClr val="2e4568"/>
                      </a:solidFill>
                    </a:lnT>
                    <a:lnB w="7200">
                      <a:solidFill>
                        <a:srgbClr val="2e4568"/>
                      </a:solidFill>
                    </a:lnB>
                    <a:solidFill>
                      <a:srgbClr val="111d33"/>
                    </a:solidFill>
                  </a:tcPr>
                </a:tc>
              </a:tr>
            </a:tbl>
          </a:graphicData>
        </a:graphic>
      </p:graphicFrame>
      <p:sp>
        <p:nvSpPr>
          <p:cNvPr id="304" name="Text 17"/>
          <p:cNvSpPr/>
          <p:nvPr/>
        </p:nvSpPr>
        <p:spPr>
          <a:xfrm>
            <a:off x="11594520" y="6510600"/>
            <a:ext cx="273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80" spc="-1" strike="noStrike">
                <a:solidFill>
                  <a:srgbClr val="6c809b"/>
                </a:solidFill>
                <a:latin typeface="Aptos"/>
              </a:rPr>
              <a:t>15</a:t>
            </a:r>
            <a:endParaRPr b="0" lang="en-GB" sz="78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6" name="Text 1"/>
          <p:cNvSpPr/>
          <p:nvPr/>
        </p:nvSpPr>
        <p:spPr>
          <a:xfrm>
            <a:off x="502920" y="320040"/>
            <a:ext cx="6949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Aptos Display"/>
                <a:ea typeface="Aptos Display"/>
              </a:rPr>
              <a:t>Conclusion and Q&amp;A</a:t>
            </a:r>
            <a:endParaRPr b="0" lang="en-GB" sz="2400" spc="-1" strike="noStrike">
              <a:latin typeface="Arial"/>
            </a:endParaRPr>
          </a:p>
        </p:txBody>
      </p:sp>
      <p:sp>
        <p:nvSpPr>
          <p:cNvPr id="307" name="Text 2"/>
          <p:cNvSpPr/>
          <p:nvPr/>
        </p:nvSpPr>
        <p:spPr>
          <a:xfrm>
            <a:off x="521280" y="78624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a9bdd5"/>
                </a:solidFill>
                <a:latin typeface="Aptos"/>
              </a:rPr>
              <a:t>A rigorous No Trade result closes the current research phase</a:t>
            </a:r>
            <a:endParaRPr b="0" lang="en-GB" sz="980" spc="-1" strike="noStrike">
              <a:latin typeface="Arial"/>
            </a:endParaRPr>
          </a:p>
        </p:txBody>
      </p:sp>
      <p:sp>
        <p:nvSpPr>
          <p:cNvPr id="308" name="Text 3"/>
          <p:cNvSpPr/>
          <p:nvPr/>
        </p:nvSpPr>
        <p:spPr>
          <a:xfrm>
            <a:off x="8732520" y="42984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20" spc="-1" strike="noStrike">
                <a:solidFill>
                  <a:srgbClr val="7da7cc"/>
                </a:solidFill>
                <a:latin typeface="Aptos"/>
              </a:rPr>
              <a:t>BTCUSDT 15m · no final test access</a:t>
            </a:r>
            <a:endParaRPr b="0" lang="en-GB" sz="820" spc="-1" strike="noStrike">
              <a:latin typeface="Arial"/>
            </a:endParaRPr>
          </a:p>
        </p:txBody>
      </p:sp>
      <p:sp>
        <p:nvSpPr>
          <p:cNvPr id="309" name="Shape 4"/>
          <p:cNvSpPr/>
          <p:nvPr/>
        </p:nvSpPr>
        <p:spPr>
          <a:xfrm>
            <a:off x="502920" y="1078920"/>
            <a:ext cx="11201400" cy="360"/>
          </a:xfrm>
          <a:prstGeom prst="line">
            <a:avLst/>
          </a:prstGeom>
          <a:ln w="12700">
            <a:solidFill>
              <a:srgbClr val="2b47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0" name="Text 5"/>
          <p:cNvSpPr/>
          <p:nvPr/>
        </p:nvSpPr>
        <p:spPr>
          <a:xfrm>
            <a:off x="868680" y="1417320"/>
            <a:ext cx="3840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f59e0b"/>
                </a:solidFill>
                <a:latin typeface="Aptos"/>
              </a:rPr>
              <a:t>NO TRADE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311" name="Text 6"/>
          <p:cNvSpPr/>
          <p:nvPr/>
        </p:nvSpPr>
        <p:spPr>
          <a:xfrm>
            <a:off x="896040" y="2284920"/>
            <a:ext cx="4571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ptos"/>
              </a:rPr>
              <a:t>No model was approved for final test evaluation or production use.</a:t>
            </a:r>
            <a:endParaRPr b="0" lang="en-GB" sz="1400" spc="-1" strike="noStrike">
              <a:latin typeface="Arial"/>
            </a:endParaRPr>
          </a:p>
        </p:txBody>
      </p:sp>
      <p:sp>
        <p:nvSpPr>
          <p:cNvPr id="312" name="Text 7"/>
          <p:cNvSpPr/>
          <p:nvPr/>
        </p:nvSpPr>
        <p:spPr>
          <a:xfrm>
            <a:off x="6583680" y="1280160"/>
            <a:ext cx="4114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ptos"/>
              </a:rPr>
              <a:t>Questions to defend</a:t>
            </a:r>
            <a:endParaRPr b="0" lang="en-GB" sz="2000" spc="-1" strike="noStrike">
              <a:latin typeface="Arial"/>
            </a:endParaRPr>
          </a:p>
        </p:txBody>
      </p:sp>
      <p:sp>
        <p:nvSpPr>
          <p:cNvPr id="313" name="Shape 8"/>
          <p:cNvSpPr/>
          <p:nvPr/>
        </p:nvSpPr>
        <p:spPr>
          <a:xfrm>
            <a:off x="6629400" y="1810440"/>
            <a:ext cx="200880" cy="2008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4" name="Text 9"/>
          <p:cNvSpPr/>
          <p:nvPr/>
        </p:nvSpPr>
        <p:spPr>
          <a:xfrm>
            <a:off x="6931080" y="1737360"/>
            <a:ext cx="4160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30" spc="-1" strike="noStrike">
                <a:solidFill>
                  <a:srgbClr val="a9bdd5"/>
                </a:solidFill>
                <a:latin typeface="Aptos"/>
              </a:rPr>
              <a:t>Why was the final test not opened?</a:t>
            </a:r>
            <a:endParaRPr b="0" lang="en-GB" sz="1230" spc="-1" strike="noStrike">
              <a:latin typeface="Arial"/>
            </a:endParaRPr>
          </a:p>
        </p:txBody>
      </p:sp>
      <p:sp>
        <p:nvSpPr>
          <p:cNvPr id="315" name="Shape 10"/>
          <p:cNvSpPr/>
          <p:nvPr/>
        </p:nvSpPr>
        <p:spPr>
          <a:xfrm>
            <a:off x="6629400" y="2340720"/>
            <a:ext cx="200880" cy="2008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6" name="Text 11"/>
          <p:cNvSpPr/>
          <p:nvPr/>
        </p:nvSpPr>
        <p:spPr>
          <a:xfrm>
            <a:off x="6931080" y="2267640"/>
            <a:ext cx="4160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30" spc="-1" strike="noStrike">
                <a:solidFill>
                  <a:srgbClr val="a9bdd5"/>
                </a:solidFill>
                <a:latin typeface="Aptos"/>
              </a:rPr>
              <a:t>Why is No Trade a valid result?</a:t>
            </a:r>
            <a:endParaRPr b="0" lang="en-GB" sz="1230" spc="-1" strike="noStrike">
              <a:latin typeface="Arial"/>
            </a:endParaRPr>
          </a:p>
        </p:txBody>
      </p:sp>
      <p:sp>
        <p:nvSpPr>
          <p:cNvPr id="317" name="Shape 12"/>
          <p:cNvSpPr/>
          <p:nvPr/>
        </p:nvSpPr>
        <p:spPr>
          <a:xfrm>
            <a:off x="6629400" y="2871360"/>
            <a:ext cx="200880" cy="2008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8" name="Text 13"/>
          <p:cNvSpPr/>
          <p:nvPr/>
        </p:nvSpPr>
        <p:spPr>
          <a:xfrm>
            <a:off x="6931080" y="2797920"/>
            <a:ext cx="4160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30" spc="-1" strike="noStrike">
                <a:solidFill>
                  <a:srgbClr val="a9bdd5"/>
                </a:solidFill>
                <a:latin typeface="Aptos"/>
              </a:rPr>
              <a:t>Why did h16 look best but still fail?</a:t>
            </a:r>
            <a:endParaRPr b="0" lang="en-GB" sz="1230" spc="-1" strike="noStrike">
              <a:latin typeface="Arial"/>
            </a:endParaRPr>
          </a:p>
        </p:txBody>
      </p:sp>
      <p:sp>
        <p:nvSpPr>
          <p:cNvPr id="319" name="Shape 14"/>
          <p:cNvSpPr/>
          <p:nvPr/>
        </p:nvSpPr>
        <p:spPr>
          <a:xfrm>
            <a:off x="6629400" y="3401640"/>
            <a:ext cx="200880" cy="2008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0" name="Text 15"/>
          <p:cNvSpPr/>
          <p:nvPr/>
        </p:nvSpPr>
        <p:spPr>
          <a:xfrm>
            <a:off x="6931080" y="3328560"/>
            <a:ext cx="4160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30" spc="-1" strike="noStrike">
                <a:solidFill>
                  <a:srgbClr val="a9bdd5"/>
                </a:solidFill>
                <a:latin typeface="Aptos"/>
              </a:rPr>
              <a:t>Which data would be most useful next?</a:t>
            </a:r>
            <a:endParaRPr b="0" lang="en-GB" sz="1230" spc="-1" strike="noStrike">
              <a:latin typeface="Arial"/>
            </a:endParaRPr>
          </a:p>
        </p:txBody>
      </p:sp>
      <p:sp>
        <p:nvSpPr>
          <p:cNvPr id="321" name="Shape 16"/>
          <p:cNvSpPr/>
          <p:nvPr/>
        </p:nvSpPr>
        <p:spPr>
          <a:xfrm>
            <a:off x="6629400" y="3931920"/>
            <a:ext cx="200880" cy="2008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2" name="Text 17"/>
          <p:cNvSpPr/>
          <p:nvPr/>
        </p:nvSpPr>
        <p:spPr>
          <a:xfrm>
            <a:off x="6931080" y="3858840"/>
            <a:ext cx="4160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30" spc="-1" strike="noStrike">
                <a:solidFill>
                  <a:srgbClr val="a9bdd5"/>
                </a:solidFill>
                <a:latin typeface="Aptos"/>
              </a:rPr>
              <a:t>How would a confirmatory paper-trading phase be specified?</a:t>
            </a:r>
            <a:endParaRPr b="0" lang="en-GB" sz="1230" spc="-1" strike="noStrike">
              <a:latin typeface="Arial"/>
            </a:endParaRPr>
          </a:p>
        </p:txBody>
      </p:sp>
      <p:sp>
        <p:nvSpPr>
          <p:cNvPr id="323" name="Shape 18"/>
          <p:cNvSpPr/>
          <p:nvPr/>
        </p:nvSpPr>
        <p:spPr>
          <a:xfrm>
            <a:off x="914400" y="4069080"/>
            <a:ext cx="4480200" cy="1051200"/>
          </a:xfrm>
          <a:prstGeom prst="roundRect">
            <a:avLst>
              <a:gd name="adj" fmla="val 6957"/>
            </a:avLst>
          </a:prstGeom>
          <a:solidFill>
            <a:srgbClr val="172a46"/>
          </a:solidFill>
          <a:ln w="12700">
            <a:solidFill>
              <a:srgbClr val="2b47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4" name="Text 19"/>
          <p:cNvSpPr/>
          <p:nvPr/>
        </p:nvSpPr>
        <p:spPr>
          <a:xfrm>
            <a:off x="1143000" y="4279320"/>
            <a:ext cx="4023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ptos"/>
              </a:rPr>
              <a:t>Key takeaway</a:t>
            </a:r>
            <a:endParaRPr b="0" lang="en-GB" sz="1400" spc="-1" strike="noStrike">
              <a:latin typeface="Arial"/>
            </a:endParaRPr>
          </a:p>
        </p:txBody>
      </p:sp>
      <p:sp>
        <p:nvSpPr>
          <p:cNvPr id="325" name="Text 20"/>
          <p:cNvSpPr/>
          <p:nvPr/>
        </p:nvSpPr>
        <p:spPr>
          <a:xfrm>
            <a:off x="1143000" y="4626720"/>
            <a:ext cx="4023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59e0b"/>
                </a:solidFill>
                <a:latin typeface="Aptos"/>
              </a:rPr>
              <a:t>A conservative rejection is stronger than an overfit trading claim.</a:t>
            </a:r>
            <a:endParaRPr b="0" lang="en-GB" sz="1200" spc="-1" strike="noStrike">
              <a:latin typeface="Arial"/>
            </a:endParaRPr>
          </a:p>
        </p:txBody>
      </p:sp>
      <p:sp>
        <p:nvSpPr>
          <p:cNvPr id="326" name="Text 21"/>
          <p:cNvSpPr/>
          <p:nvPr/>
        </p:nvSpPr>
        <p:spPr>
          <a:xfrm>
            <a:off x="914400" y="5852160"/>
            <a:ext cx="10332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Aptos"/>
              </a:rPr>
              <a:t>Thank you · Questions?</a:t>
            </a:r>
            <a:endParaRPr b="0" lang="en-GB" sz="2400" spc="-1" strike="noStrike">
              <a:latin typeface="Arial"/>
            </a:endParaRPr>
          </a:p>
        </p:txBody>
      </p:sp>
      <p:sp>
        <p:nvSpPr>
          <p:cNvPr id="327" name="Text 22"/>
          <p:cNvSpPr/>
          <p:nvPr/>
        </p:nvSpPr>
        <p:spPr>
          <a:xfrm>
            <a:off x="11594520" y="6510600"/>
            <a:ext cx="273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80" spc="-1" strike="noStrike">
                <a:solidFill>
                  <a:srgbClr val="6c809b"/>
                </a:solidFill>
                <a:latin typeface="Aptos"/>
              </a:rPr>
              <a:t>16</a:t>
            </a:r>
            <a:endParaRPr b="0" lang="en-GB" sz="78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</TotalTime>
  <Application>LibreOffice/7.3.7.2$Linux_X86_64 LibreOffice_project/30$Build-2</Application>
  <AppVersion>15.0000</AppVersion>
  <Company>University Project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2026-07-31T21:42:13Z</dcterms:created>
  <dc:creator>Milan Buschkühler</dc:creator>
  <dc:description/>
  <dc:language>en-GB</dc:language>
  <cp:lastModifiedBy/>
  <dcterms:modified xsi:type="dcterms:W3CDTF">2026-08-01T03:22:11Z</dcterms:modified>
  <cp:revision>2</cp:revision>
  <dc:subject>Bitcoin Price Prediction</dc:subject>
  <dc:title>Bitcoin Price Prediction - Reworked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16</vt:i4>
  </property>
  <property fmtid="{D5CDD505-2E9C-101B-9397-08002B2CF9AE}" pid="3" name="PresentationFormat">
    <vt:lpwstr>On-screen Show (16:9)</vt:lpwstr>
  </property>
  <property fmtid="{D5CDD505-2E9C-101B-9397-08002B2CF9AE}" pid="4" name="Slides">
    <vt:i4>16</vt:i4>
  </property>
</Properties>
</file>